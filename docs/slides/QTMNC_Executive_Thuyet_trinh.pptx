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43A"/>
          </a:solidFill>
          <a:ln w="10160">
            <a:solidFill>
              <a:srgbClr val="14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5A995"/>
          </a:solidFill>
          <a:ln w="10160">
            <a:solidFill>
              <a:srgbClr val="15A9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47472"/>
            <a:ext cx="7315200" cy="384048"/>
          </a:xfrm>
          <a:prstGeom prst="rect">
            <a:avLst/>
          </a:prstGeom>
          <a:noFill/>
        </p:spPr>
        <p:txBody>
          <a:bodyPr wrap="square" anchor="ctr" lIns="54864" rIns="54864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99E7DA"/>
                </a:solidFill>
                <a:latin typeface="Aptos"/>
              </a:rPr>
              <a:t>QTMNC  ·  THUYẾT TRÌNH DỰ ÁN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881360" cy="822960"/>
          </a:xfrm>
          <a:prstGeom prst="rect">
            <a:avLst/>
          </a:prstGeom>
          <a:noFill/>
        </p:spPr>
        <p:txBody>
          <a:bodyPr wrap="square" anchor="ctr" lIns="54864" rIns="54864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Aptos"/>
              </a:rPr>
              <a:t>Giám sát thiết bị và cảnh báo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728216"/>
            <a:ext cx="10515600" cy="749808"/>
          </a:xfrm>
          <a:prstGeom prst="rect">
            <a:avLst/>
          </a:prstGeom>
          <a:noFill/>
        </p:spPr>
        <p:txBody>
          <a:bodyPr wrap="square" anchor="ctr" lIns="54864" rIns="54864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E8EEF5"/>
                </a:solidFill>
                <a:latin typeface="Aptos"/>
              </a:rPr>
              <a:t>Windows chạy Python kiểm tra Ubuntu định kỳ; khi trạng thái đổi, hệ thống gửi cảnh báo Telegram/Slack.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697480"/>
            <a:ext cx="3456432" cy="1353312"/>
          </a:xfrm>
          <a:prstGeom prst="roundRect">
            <a:avLst/>
          </a:prstGeom>
          <a:solidFill>
            <a:srgbClr val="1B3552"/>
          </a:solidFill>
          <a:ln w="10160">
            <a:solidFill>
              <a:srgbClr val="3052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779776"/>
            <a:ext cx="3218687" cy="310896"/>
          </a:xfrm>
          <a:prstGeom prst="rect">
            <a:avLst/>
          </a:prstGeom>
          <a:noFill/>
        </p:spPr>
        <p:txBody>
          <a:bodyPr wrap="square" anchor="ctr" lIns="54864" rIns="54864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99E7DA"/>
                </a:solidFill>
                <a:latin typeface="Aptos"/>
              </a:rPr>
              <a:t>ĐỐI TƯỢNG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108960"/>
            <a:ext cx="3218687" cy="822960"/>
          </a:xfrm>
          <a:prstGeom prst="rect">
            <a:avLst/>
          </a:prstGeom>
          <a:noFill/>
        </p:spPr>
        <p:txBody>
          <a:bodyPr wrap="square" anchor="ctr" lIns="54864" rIns="54864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ptos"/>
              </a:rPr>
              <a:t>Ubuntu VMware; theo dõi CPU, RAM, nhiệt độ và interface.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5696" y="2697480"/>
            <a:ext cx="3456432" cy="1353312"/>
          </a:xfrm>
          <a:prstGeom prst="roundRect">
            <a:avLst/>
          </a:prstGeom>
          <a:solidFill>
            <a:srgbClr val="1B3552"/>
          </a:solidFill>
          <a:ln w="10160">
            <a:solidFill>
              <a:srgbClr val="3052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44568" y="2779776"/>
            <a:ext cx="3218687" cy="310896"/>
          </a:xfrm>
          <a:prstGeom prst="rect">
            <a:avLst/>
          </a:prstGeom>
          <a:noFill/>
        </p:spPr>
        <p:txBody>
          <a:bodyPr wrap="square" anchor="ctr" lIns="54864" rIns="54864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99E7DA"/>
                </a:solidFill>
                <a:latin typeface="Aptos"/>
              </a:rPr>
              <a:t>ĐƯỜNG CHÍNH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3108960"/>
            <a:ext cx="3218687" cy="822960"/>
          </a:xfrm>
          <a:prstGeom prst="rect">
            <a:avLst/>
          </a:prstGeom>
          <a:noFill/>
        </p:spPr>
        <p:txBody>
          <a:bodyPr wrap="square" anchor="ctr" lIns="54864" rIns="54864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ptos"/>
              </a:rPr>
              <a:t>SSH qua GNS3; bản đơn giản chờ 5 giây sau mỗi lượt đọc.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01583" y="2697480"/>
            <a:ext cx="3456432" cy="1353312"/>
          </a:xfrm>
          <a:prstGeom prst="roundRect">
            <a:avLst/>
          </a:prstGeom>
          <a:solidFill>
            <a:srgbClr val="1B3552"/>
          </a:solidFill>
          <a:ln w="10160">
            <a:solidFill>
              <a:srgbClr val="3052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0456" y="2779776"/>
            <a:ext cx="3218687" cy="310896"/>
          </a:xfrm>
          <a:prstGeom prst="rect">
            <a:avLst/>
          </a:prstGeom>
          <a:noFill/>
        </p:spPr>
        <p:txBody>
          <a:bodyPr wrap="square" anchor="ctr" lIns="54864" rIns="54864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99E7DA"/>
                </a:solidFill>
                <a:latin typeface="Aptos"/>
              </a:rPr>
              <a:t>MỞ RỘNG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0456" y="3108960"/>
            <a:ext cx="3218687" cy="822960"/>
          </a:xfrm>
          <a:prstGeom prst="rect">
            <a:avLst/>
          </a:prstGeom>
          <a:noFill/>
        </p:spPr>
        <p:txBody>
          <a:bodyPr wrap="square" anchor="ctr" lIns="54864" rIns="54864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ptos"/>
              </a:rPr>
              <a:t>SNMP/hybrid; gửi cảnh báo qua HTTPS tới Telegram/Slack.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6384" y="4325112"/>
            <a:ext cx="2480310" cy="1005840"/>
          </a:xfrm>
          <a:prstGeom prst="roundRect">
            <a:avLst/>
          </a:prstGeom>
          <a:solidFill>
            <a:srgbClr val="223758"/>
          </a:solidFill>
          <a:ln w="10160">
            <a:solidFill>
              <a:srgbClr val="4C7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4398264"/>
            <a:ext cx="2334006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ptos"/>
              </a:rPr>
              <a:t>WINDOWS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" y="4809744"/>
            <a:ext cx="2334006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DFE8F1"/>
                </a:solidFill>
                <a:latin typeface="Aptos"/>
              </a:rPr>
              <a:t>PYTHON / VS CODE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303270" y="4828032"/>
            <a:ext cx="155448" cy="0"/>
          </a:xfrm>
          <a:prstGeom prst="line">
            <a:avLst/>
          </a:prstGeom>
          <a:ln w="27940">
            <a:solidFill>
              <a:srgbClr val="4C7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3495294" y="4325112"/>
            <a:ext cx="2480310" cy="1005840"/>
          </a:xfrm>
          <a:prstGeom prst="roundRect">
            <a:avLst/>
          </a:prstGeom>
          <a:solidFill>
            <a:srgbClr val="3D342B"/>
          </a:solidFill>
          <a:ln w="10160">
            <a:solidFill>
              <a:srgbClr val="E7A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8446" y="4398264"/>
            <a:ext cx="2334006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ptos"/>
              </a:rPr>
              <a:t>GNS3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8446" y="4809744"/>
            <a:ext cx="2334006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DFE8F1"/>
                </a:solidFill>
                <a:latin typeface="Aptos"/>
              </a:rPr>
              <a:t>MẠNG LAB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2180" y="4828032"/>
            <a:ext cx="155448" cy="0"/>
          </a:xfrm>
          <a:prstGeom prst="line">
            <a:avLst/>
          </a:prstGeom>
          <a:ln w="27940">
            <a:solidFill>
              <a:srgbClr val="E7A2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204204" y="4325112"/>
            <a:ext cx="2480310" cy="1005840"/>
          </a:xfrm>
          <a:prstGeom prst="roundRect">
            <a:avLst/>
          </a:prstGeom>
          <a:solidFill>
            <a:srgbClr val="243D34"/>
          </a:solidFill>
          <a:ln w="10160">
            <a:solidFill>
              <a:srgbClr val="268D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77356" y="4398264"/>
            <a:ext cx="2334006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ptos"/>
              </a:rPr>
              <a:t>UBUNTU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7356" y="4809744"/>
            <a:ext cx="2334006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DFE8F1"/>
                </a:solidFill>
                <a:latin typeface="Aptos"/>
              </a:rPr>
              <a:t>THIẾT BỊ ĐÍCH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21090" y="4828032"/>
            <a:ext cx="155448" cy="0"/>
          </a:xfrm>
          <a:prstGeom prst="line">
            <a:avLst/>
          </a:prstGeom>
          <a:ln w="27940">
            <a:solidFill>
              <a:srgbClr val="268D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913113" y="4325112"/>
            <a:ext cx="2480310" cy="1005840"/>
          </a:xfrm>
          <a:prstGeom prst="roundRect">
            <a:avLst/>
          </a:prstGeom>
          <a:solidFill>
            <a:srgbClr val="203E40"/>
          </a:solidFill>
          <a:ln w="10160">
            <a:solidFill>
              <a:srgbClr val="15A9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86265" y="4398264"/>
            <a:ext cx="2334006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ptos"/>
              </a:rPr>
              <a:t>BOT API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86265" y="4809744"/>
            <a:ext cx="2334006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DFE8F1"/>
                </a:solidFill>
                <a:latin typeface="Aptos"/>
              </a:rPr>
              <a:t>TELEGRAM / SLACK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" y="5532120"/>
            <a:ext cx="10561320" cy="585216"/>
          </a:xfrm>
          <a:prstGeom prst="rect">
            <a:avLst/>
          </a:prstGeom>
          <a:noFill/>
        </p:spPr>
        <p:txBody>
          <a:bodyPr wrap="square" anchor="ctr" lIns="54864" rIns="54864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DFE8F1"/>
                </a:solidFill>
                <a:latin typeface="Aptos"/>
              </a:rPr>
              <a:t>PHẠM VI  4 chỉ số  ·  SSH TCP/22  ·  polling gần thời gian thực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84080" y="6419088"/>
            <a:ext cx="1645920" cy="292608"/>
          </a:xfrm>
          <a:prstGeom prst="rect">
            <a:avLst/>
          </a:prstGeom>
          <a:noFill/>
        </p:spPr>
        <p:txBody>
          <a:bodyPr wrap="square" anchor="ctr" lIns="54864" rIns="54864" tIns="13716" bIns="13716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AFC0D0"/>
                </a:solidFill>
                <a:latin typeface="Aptos"/>
              </a:rPr>
              <a:t>01 / 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5A995"/>
          </a:solidFill>
          <a:ln w="10160">
            <a:solidFill>
              <a:srgbClr val="15A9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85216" y="228600"/>
            <a:ext cx="8046720" cy="347472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87C71"/>
                </a:solidFill>
                <a:latin typeface="Aptos"/>
              </a:rPr>
              <a:t>QTMNC  /  BỐI CẢNH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72" y="621792"/>
            <a:ext cx="10058400" cy="603504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4243A"/>
                </a:solidFill>
                <a:latin typeface="Aptos"/>
              </a:rPr>
              <a:t>Bối cảnh và mục tiêu hệ thống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835640" y="603504"/>
            <a:ext cx="768096" cy="502920"/>
          </a:xfrm>
          <a:prstGeom prst="roundRect">
            <a:avLst/>
          </a:prstGeom>
          <a:solidFill>
            <a:srgbClr val="14243A"/>
          </a:solidFill>
          <a:ln w="10160">
            <a:solidFill>
              <a:srgbClr val="14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63072" y="640080"/>
            <a:ext cx="713232" cy="420624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353312"/>
            <a:ext cx="11009376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FE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417320"/>
            <a:ext cx="10680192" cy="621792"/>
          </a:xfrm>
          <a:prstGeom prst="rect">
            <a:avLst/>
          </a:prstGeom>
          <a:noFill/>
        </p:spPr>
        <p:txBody>
          <a:bodyPr wrap="square" anchor="ctr" lIns="36576" rIns="36576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THÔNG ĐIỆP  ·  Giải pháp biến số liệu thiết bị thành cảnh báo và bằng chứng xử lý sự cố có thể trình diễn.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221992"/>
            <a:ext cx="11009376" cy="621792"/>
          </a:xfrm>
          <a:prstGeom prst="roundRect">
            <a:avLst/>
          </a:prstGeom>
          <a:solidFill>
            <a:srgbClr val="EAF0FF"/>
          </a:solidFill>
          <a:ln w="10160">
            <a:solidFill>
              <a:srgbClr val="EA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2221992"/>
            <a:ext cx="73152" cy="621792"/>
          </a:xfrm>
          <a:prstGeom prst="rect">
            <a:avLst/>
          </a:prstGeom>
          <a:solidFill>
            <a:srgbClr val="4C78E8"/>
          </a:solidFill>
          <a:ln w="10160">
            <a:solidFill>
              <a:srgbClr val="4C7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2258568"/>
            <a:ext cx="10698480" cy="539496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01  Vấn đề: Lỗi CPU, bộ nhớ, nhiệt độ hoặc interface có thể bị phát hiện muộn.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935224"/>
            <a:ext cx="11009376" cy="621792"/>
          </a:xfrm>
          <a:prstGeom prst="roundRect">
            <a:avLst/>
          </a:prstGeom>
          <a:solidFill>
            <a:srgbClr val="FFF3DF"/>
          </a:solidFill>
          <a:ln w="10160">
            <a:solidFill>
              <a:srgbClr val="FF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" y="2935224"/>
            <a:ext cx="73152" cy="621792"/>
          </a:xfrm>
          <a:prstGeom prst="rect">
            <a:avLst/>
          </a:prstGeom>
          <a:solidFill>
            <a:srgbClr val="E7A23B"/>
          </a:solidFill>
          <a:ln w="10160">
            <a:solidFill>
              <a:srgbClr val="E7A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2971800"/>
            <a:ext cx="10698480" cy="539496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4243A"/>
                </a:solidFill>
                <a:latin typeface="Aptos"/>
              </a:rPr>
              <a:t>02  Mục tiêu: Kiểm tra có lịch; phát hiện chuyển trạng thái; báo người quản trị.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648456"/>
            <a:ext cx="11009376" cy="621792"/>
          </a:xfrm>
          <a:prstGeom prst="roundRect">
            <a:avLst/>
          </a:prstGeom>
          <a:solidFill>
            <a:srgbClr val="E7F6F3"/>
          </a:solidFill>
          <a:ln w="10160">
            <a:solidFill>
              <a:srgbClr val="E7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648456"/>
            <a:ext cx="73152" cy="621792"/>
          </a:xfrm>
          <a:prstGeom prst="rect">
            <a:avLst/>
          </a:prstGeom>
          <a:solidFill>
            <a:srgbClr val="15A995"/>
          </a:solidFill>
          <a:ln w="10160">
            <a:solidFill>
              <a:srgbClr val="15A9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3685032"/>
            <a:ext cx="10698480" cy="539496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4243A"/>
                </a:solidFill>
                <a:latin typeface="Aptos"/>
              </a:rPr>
              <a:t>03  Phạm vi: Một Windows giám sát Ubuntu VM qua mạng GNS3 hiện có.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4462272"/>
            <a:ext cx="11009376" cy="15727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FE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517136"/>
            <a:ext cx="10607040" cy="301752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87C71"/>
                </a:solidFill>
                <a:latin typeface="Aptos"/>
              </a:rPr>
              <a:t>GỢI Ý TRỰC QUAN  ·  SƠ ĐỒ NGƯỜI KIỂM TRA – HỆ THỐNG – NGƯỜI NHẬN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4983" y="4892040"/>
            <a:ext cx="3176016" cy="1005840"/>
          </a:xfrm>
          <a:prstGeom prst="roundRect">
            <a:avLst/>
          </a:prstGeom>
          <a:solidFill>
            <a:srgbClr val="EAF0FF"/>
          </a:solidFill>
          <a:ln w="10160">
            <a:solidFill>
              <a:srgbClr val="4C7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8136" y="4965192"/>
            <a:ext cx="3029711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THIẾT BỊ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" y="5376672"/>
            <a:ext cx="3029711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07086"/>
                </a:solidFill>
                <a:latin typeface="Aptos"/>
              </a:rPr>
              <a:t>ĐỌC CHỈ SỐ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227576" y="5394959"/>
            <a:ext cx="246887" cy="0"/>
          </a:xfrm>
          <a:prstGeom prst="line">
            <a:avLst/>
          </a:prstGeom>
          <a:ln w="27940">
            <a:solidFill>
              <a:srgbClr val="4C7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511040" y="4892040"/>
            <a:ext cx="3176016" cy="1005840"/>
          </a:xfrm>
          <a:prstGeom prst="roundRect">
            <a:avLst/>
          </a:prstGeom>
          <a:solidFill>
            <a:srgbClr val="FFF3DF"/>
          </a:solidFill>
          <a:ln w="10160">
            <a:solidFill>
              <a:srgbClr val="E7A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84192" y="4965192"/>
            <a:ext cx="3029711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PYTHON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84192" y="5376672"/>
            <a:ext cx="3029711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07086"/>
                </a:solidFill>
                <a:latin typeface="Aptos"/>
              </a:rPr>
              <a:t>ĐÁNH GIÁ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723631" y="5394959"/>
            <a:ext cx="246889" cy="0"/>
          </a:xfrm>
          <a:prstGeom prst="line">
            <a:avLst/>
          </a:prstGeom>
          <a:ln w="27940">
            <a:solidFill>
              <a:srgbClr val="E7A2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007095" y="4892040"/>
            <a:ext cx="3176016" cy="1005840"/>
          </a:xfrm>
          <a:prstGeom prst="roundRect">
            <a:avLst/>
          </a:prstGeom>
          <a:solidFill>
            <a:srgbClr val="E5F3EC"/>
          </a:solidFill>
          <a:ln w="10160">
            <a:solidFill>
              <a:srgbClr val="268D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80247" y="4965192"/>
            <a:ext cx="3029711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QUẢN TRỊ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80247" y="5376672"/>
            <a:ext cx="3029711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07086"/>
                </a:solidFill>
                <a:latin typeface="Aptos"/>
              </a:rPr>
              <a:t>NHẬN TIN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4360" y="6163056"/>
            <a:ext cx="11009376" cy="484632"/>
          </a:xfrm>
          <a:prstGeom prst="roundRect">
            <a:avLst/>
          </a:prstGeom>
          <a:solidFill>
            <a:srgbClr val="14243A"/>
          </a:solidFill>
          <a:ln w="10160">
            <a:solidFill>
              <a:srgbClr val="14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6190488"/>
            <a:ext cx="10680192" cy="420624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ptos"/>
              </a:rPr>
              <a:t>ĐẦU RA  Dashboard · cảnh báo lỗi/phục hồi · hàng đợi tin chưa gửi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5A995"/>
          </a:solidFill>
          <a:ln w="10160">
            <a:solidFill>
              <a:srgbClr val="15A9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85216" y="228600"/>
            <a:ext cx="8046720" cy="347472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87C71"/>
                </a:solidFill>
                <a:latin typeface="Aptos"/>
              </a:rPr>
              <a:t>QTMNC  /  KIẾN TRÚC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72" y="621792"/>
            <a:ext cx="10058400" cy="603504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4243A"/>
                </a:solidFill>
                <a:latin typeface="Aptos"/>
              </a:rPr>
              <a:t>Kiến trúc tổng thể giải pháp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835640" y="603504"/>
            <a:ext cx="768096" cy="502920"/>
          </a:xfrm>
          <a:prstGeom prst="roundRect">
            <a:avLst/>
          </a:prstGeom>
          <a:solidFill>
            <a:srgbClr val="14243A"/>
          </a:solidFill>
          <a:ln w="10160">
            <a:solidFill>
              <a:srgbClr val="14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63072" y="640080"/>
            <a:ext cx="713232" cy="420624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353312"/>
            <a:ext cx="11009376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FE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417320"/>
            <a:ext cx="10680192" cy="621792"/>
          </a:xfrm>
          <a:prstGeom prst="rect">
            <a:avLst/>
          </a:prstGeom>
          <a:noFill/>
        </p:spPr>
        <p:txBody>
          <a:bodyPr wrap="square" anchor="ctr" lIns="36576" rIns="36576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THÔNG ĐIỆP  ·  Thu thập, đánh giá, lưu trữ và gửi tin là các bước tách biệt trong cùng một ứng dụng.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221992"/>
            <a:ext cx="11009376" cy="621792"/>
          </a:xfrm>
          <a:prstGeom prst="roundRect">
            <a:avLst/>
          </a:prstGeom>
          <a:solidFill>
            <a:srgbClr val="EAF0FF"/>
          </a:solidFill>
          <a:ln w="10160">
            <a:solidFill>
              <a:srgbClr val="EA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2221992"/>
            <a:ext cx="73152" cy="621792"/>
          </a:xfrm>
          <a:prstGeom prst="rect">
            <a:avLst/>
          </a:prstGeom>
          <a:solidFill>
            <a:srgbClr val="4C78E8"/>
          </a:solidFill>
          <a:ln w="10160">
            <a:solidFill>
              <a:srgbClr val="4C7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2258568"/>
            <a:ext cx="10698480" cy="539496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01  Máy giám sát: Windows chạy monitor.py và bảng Rich trong Terminal.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935224"/>
            <a:ext cx="11009376" cy="621792"/>
          </a:xfrm>
          <a:prstGeom prst="roundRect">
            <a:avLst/>
          </a:prstGeom>
          <a:solidFill>
            <a:srgbClr val="FFF3DF"/>
          </a:solidFill>
          <a:ln w="10160">
            <a:solidFill>
              <a:srgbClr val="FF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" y="2935224"/>
            <a:ext cx="73152" cy="621792"/>
          </a:xfrm>
          <a:prstGeom prst="rect">
            <a:avLst/>
          </a:prstGeom>
          <a:solidFill>
            <a:srgbClr val="E7A23B"/>
          </a:solidFill>
          <a:ln w="10160">
            <a:solidFill>
              <a:srgbClr val="E7A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2971800"/>
            <a:ext cx="10698480" cy="539496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4243A"/>
                </a:solidFill>
                <a:latin typeface="Aptos"/>
              </a:rPr>
              <a:t>02  Thiết bị đích: Ubuntu trả số liệu qua SSH; SNMP là collector mở rộng.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648456"/>
            <a:ext cx="11009376" cy="621792"/>
          </a:xfrm>
          <a:prstGeom prst="roundRect">
            <a:avLst/>
          </a:prstGeom>
          <a:solidFill>
            <a:srgbClr val="E7F6F3"/>
          </a:solidFill>
          <a:ln w="10160">
            <a:solidFill>
              <a:srgbClr val="E7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648456"/>
            <a:ext cx="73152" cy="621792"/>
          </a:xfrm>
          <a:prstGeom prst="rect">
            <a:avLst/>
          </a:prstGeom>
          <a:solidFill>
            <a:srgbClr val="15A995"/>
          </a:solidFill>
          <a:ln w="10160">
            <a:solidFill>
              <a:srgbClr val="15A9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3685032"/>
            <a:ext cx="10698480" cy="539496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4243A"/>
                </a:solidFill>
                <a:latin typeface="Aptos"/>
              </a:rPr>
              <a:t>03  Kênh gửi: Luồng gửi riêng chuyển tin qua Telegram Bot API/Slack Webhook.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4462272"/>
            <a:ext cx="11009376" cy="15727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FE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517136"/>
            <a:ext cx="10607040" cy="301752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87C71"/>
                </a:solidFill>
                <a:latin typeface="Aptos"/>
              </a:rPr>
              <a:t>GỢI Ý TRỰC QUAN  ·  KIẾN TRÚC TỔNG THỂ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4983" y="4892040"/>
            <a:ext cx="2370582" cy="1005840"/>
          </a:xfrm>
          <a:prstGeom prst="roundRect">
            <a:avLst/>
          </a:prstGeom>
          <a:solidFill>
            <a:srgbClr val="EAF0FF"/>
          </a:solidFill>
          <a:ln w="10160">
            <a:solidFill>
              <a:srgbClr val="4C7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8136" y="4965192"/>
            <a:ext cx="2224277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" y="5376672"/>
            <a:ext cx="2224277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07086"/>
                </a:solidFill>
                <a:latin typeface="Aptos"/>
              </a:rPr>
              <a:t>PYTHON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422141" y="5394959"/>
            <a:ext cx="155448" cy="0"/>
          </a:xfrm>
          <a:prstGeom prst="line">
            <a:avLst/>
          </a:prstGeom>
          <a:ln w="27940">
            <a:solidFill>
              <a:srgbClr val="4C7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3614165" y="4892040"/>
            <a:ext cx="2370582" cy="1005840"/>
          </a:xfrm>
          <a:prstGeom prst="roundRect">
            <a:avLst/>
          </a:prstGeom>
          <a:solidFill>
            <a:srgbClr val="FFF3DF"/>
          </a:solidFill>
          <a:ln w="10160">
            <a:solidFill>
              <a:srgbClr val="E7A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87318" y="4965192"/>
            <a:ext cx="2224277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GNS3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87318" y="5376672"/>
            <a:ext cx="2224277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07086"/>
                </a:solidFill>
                <a:latin typeface="Aptos"/>
              </a:rPr>
              <a:t>SSH / TCP 22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021324" y="5394959"/>
            <a:ext cx="155448" cy="0"/>
          </a:xfrm>
          <a:prstGeom prst="line">
            <a:avLst/>
          </a:prstGeom>
          <a:ln w="27940">
            <a:solidFill>
              <a:srgbClr val="E7A2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213348" y="4892040"/>
            <a:ext cx="2370582" cy="1005840"/>
          </a:xfrm>
          <a:prstGeom prst="roundRect">
            <a:avLst/>
          </a:prstGeom>
          <a:solidFill>
            <a:srgbClr val="E5F3EC"/>
          </a:solidFill>
          <a:ln w="10160">
            <a:solidFill>
              <a:srgbClr val="268D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86500" y="4965192"/>
            <a:ext cx="2224277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UBUNTU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6500" y="5376672"/>
            <a:ext cx="2224277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07086"/>
                </a:solidFill>
                <a:latin typeface="Aptos"/>
              </a:rPr>
              <a:t>CPU · RAM · NIC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620505" y="5394959"/>
            <a:ext cx="155449" cy="0"/>
          </a:xfrm>
          <a:prstGeom prst="line">
            <a:avLst/>
          </a:prstGeom>
          <a:ln w="27940">
            <a:solidFill>
              <a:srgbClr val="268D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812530" y="4892040"/>
            <a:ext cx="2370582" cy="1005840"/>
          </a:xfrm>
          <a:prstGeom prst="roundRect">
            <a:avLst/>
          </a:prstGeom>
          <a:solidFill>
            <a:srgbClr val="E7F6F3"/>
          </a:solidFill>
          <a:ln w="10160">
            <a:solidFill>
              <a:srgbClr val="15A9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85682" y="4965192"/>
            <a:ext cx="2224277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BOT API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85682" y="5376672"/>
            <a:ext cx="2224277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07086"/>
                </a:solidFill>
                <a:latin typeface="Aptos"/>
              </a:rPr>
              <a:t>HTTPS · ALERTS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6163056"/>
            <a:ext cx="11009376" cy="484632"/>
          </a:xfrm>
          <a:prstGeom prst="roundRect">
            <a:avLst/>
          </a:prstGeom>
          <a:solidFill>
            <a:srgbClr val="14243A"/>
          </a:solidFill>
          <a:ln w="10160">
            <a:solidFill>
              <a:srgbClr val="14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9808" y="6190488"/>
            <a:ext cx="10680192" cy="420624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ptos"/>
              </a:rPr>
              <a:t>MÔ HÌNH  Python Windows → GNS3 → Ubuntu; HTTPS → dịch vụ nhắn tin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5A995"/>
          </a:solidFill>
          <a:ln w="10160">
            <a:solidFill>
              <a:srgbClr val="15A9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85216" y="228600"/>
            <a:ext cx="8046720" cy="347472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87C71"/>
                </a:solidFill>
                <a:latin typeface="Aptos"/>
              </a:rPr>
              <a:t>QTMNC  /  THÀNH PHẦN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72" y="621792"/>
            <a:ext cx="10058400" cy="603504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4243A"/>
                </a:solidFill>
                <a:latin typeface="Aptos"/>
              </a:rPr>
              <a:t>Thiết bị và công cụ thực hành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835640" y="603504"/>
            <a:ext cx="768096" cy="502920"/>
          </a:xfrm>
          <a:prstGeom prst="roundRect">
            <a:avLst/>
          </a:prstGeom>
          <a:solidFill>
            <a:srgbClr val="14243A"/>
          </a:solidFill>
          <a:ln w="10160">
            <a:solidFill>
              <a:srgbClr val="14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63072" y="640080"/>
            <a:ext cx="713232" cy="420624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353312"/>
            <a:ext cx="11009376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FE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417320"/>
            <a:ext cx="10680192" cy="621792"/>
          </a:xfrm>
          <a:prstGeom prst="rect">
            <a:avLst/>
          </a:prstGeom>
          <a:noFill/>
        </p:spPr>
        <p:txBody>
          <a:bodyPr wrap="square" anchor="ctr" lIns="36576" rIns="36576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THÔNG ĐIỆP  ·  Mỗi thiết bị đảm nhiệm một vai trò; chỉ Ubuntu là đối tượng lấy CPU/RAM trong lab hiện tại.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221992"/>
            <a:ext cx="11009376" cy="621792"/>
          </a:xfrm>
          <a:prstGeom prst="roundRect">
            <a:avLst/>
          </a:prstGeom>
          <a:solidFill>
            <a:srgbClr val="EAF0FF"/>
          </a:solidFill>
          <a:ln w="10160">
            <a:solidFill>
              <a:srgbClr val="EA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2221992"/>
            <a:ext cx="73152" cy="621792"/>
          </a:xfrm>
          <a:prstGeom prst="rect">
            <a:avLst/>
          </a:prstGeom>
          <a:solidFill>
            <a:srgbClr val="4C78E8"/>
          </a:solidFill>
          <a:ln w="10160">
            <a:solidFill>
              <a:srgbClr val="4C7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2258568"/>
            <a:ext cx="10698480" cy="539496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01  Windows: Máy thật; chạy VS Code, Python, cấu hình và gửi cảnh báo.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935224"/>
            <a:ext cx="11009376" cy="621792"/>
          </a:xfrm>
          <a:prstGeom prst="roundRect">
            <a:avLst/>
          </a:prstGeom>
          <a:solidFill>
            <a:srgbClr val="FFF3DF"/>
          </a:solidFill>
          <a:ln w="10160">
            <a:solidFill>
              <a:srgbClr val="FF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" y="2935224"/>
            <a:ext cx="73152" cy="621792"/>
          </a:xfrm>
          <a:prstGeom prst="rect">
            <a:avLst/>
          </a:prstGeom>
          <a:solidFill>
            <a:srgbClr val="E7A23B"/>
          </a:solidFill>
          <a:ln w="10160">
            <a:solidFill>
              <a:srgbClr val="E7A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2971800"/>
            <a:ext cx="10698480" cy="539496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4243A"/>
                </a:solidFill>
                <a:latin typeface="Aptos"/>
              </a:rPr>
              <a:t>02  VMware: Cấp CPU/RAM ảo, Ubuntu và các card mạng cho thiết bị đích.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648456"/>
            <a:ext cx="11009376" cy="621792"/>
          </a:xfrm>
          <a:prstGeom prst="roundRect">
            <a:avLst/>
          </a:prstGeom>
          <a:solidFill>
            <a:srgbClr val="E7F6F3"/>
          </a:solidFill>
          <a:ln w="10160">
            <a:solidFill>
              <a:srgbClr val="E7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648456"/>
            <a:ext cx="73152" cy="621792"/>
          </a:xfrm>
          <a:prstGeom prst="rect">
            <a:avLst/>
          </a:prstGeom>
          <a:solidFill>
            <a:srgbClr val="15A995"/>
          </a:solidFill>
          <a:ln w="10160">
            <a:solidFill>
              <a:srgbClr val="15A9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3685032"/>
            <a:ext cx="10698480" cy="539496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4243A"/>
                </a:solidFill>
                <a:latin typeface="Aptos"/>
              </a:rPr>
              <a:t>03  GNS3: Hai Cloud và Switch1 chuyển tiếp mạng; không tự đo tài nguyên.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4462272"/>
            <a:ext cx="11009376" cy="15727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FE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517136"/>
            <a:ext cx="10607040" cy="301752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87C71"/>
                </a:solidFill>
                <a:latin typeface="Aptos"/>
              </a:rPr>
              <a:t>GỢI Ý TRỰC QUAN  ·  THẺ VAI TRÒ 4 KHỐI THIẾT BỊ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4983" y="4892040"/>
            <a:ext cx="2370582" cy="1005840"/>
          </a:xfrm>
          <a:prstGeom prst="roundRect">
            <a:avLst/>
          </a:prstGeom>
          <a:solidFill>
            <a:srgbClr val="EAF0FF"/>
          </a:solidFill>
          <a:ln w="10160">
            <a:solidFill>
              <a:srgbClr val="4C7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8136" y="4965192"/>
            <a:ext cx="2224277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" y="5376672"/>
            <a:ext cx="2224277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07086"/>
                </a:solidFill>
                <a:latin typeface="Aptos"/>
              </a:rPr>
              <a:t>GIÁM SÁT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422141" y="5394959"/>
            <a:ext cx="155448" cy="0"/>
          </a:xfrm>
          <a:prstGeom prst="line">
            <a:avLst/>
          </a:prstGeom>
          <a:ln w="27940">
            <a:solidFill>
              <a:srgbClr val="4C7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3614165" y="4892040"/>
            <a:ext cx="2370582" cy="1005840"/>
          </a:xfrm>
          <a:prstGeom prst="roundRect">
            <a:avLst/>
          </a:prstGeom>
          <a:solidFill>
            <a:srgbClr val="FFF3DF"/>
          </a:solidFill>
          <a:ln w="10160">
            <a:solidFill>
              <a:srgbClr val="E7A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87318" y="4965192"/>
            <a:ext cx="2224277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GNS3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87318" y="5376672"/>
            <a:ext cx="2224277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07086"/>
                </a:solidFill>
                <a:latin typeface="Aptos"/>
              </a:rPr>
              <a:t>CHUYỂN TIẾP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021324" y="5394959"/>
            <a:ext cx="155448" cy="0"/>
          </a:xfrm>
          <a:prstGeom prst="line">
            <a:avLst/>
          </a:prstGeom>
          <a:ln w="27940">
            <a:solidFill>
              <a:srgbClr val="E7A2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213348" y="4892040"/>
            <a:ext cx="2370582" cy="1005840"/>
          </a:xfrm>
          <a:prstGeom prst="roundRect">
            <a:avLst/>
          </a:prstGeom>
          <a:solidFill>
            <a:srgbClr val="E5F3EC"/>
          </a:solidFill>
          <a:ln w="10160">
            <a:solidFill>
              <a:srgbClr val="268D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86500" y="4965192"/>
            <a:ext cx="2224277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UBUNTU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6500" y="5376672"/>
            <a:ext cx="2224277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07086"/>
                </a:solidFill>
                <a:latin typeface="Aptos"/>
              </a:rPr>
              <a:t>ĐỐI TƯỢNG ĐO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620505" y="5394959"/>
            <a:ext cx="155449" cy="0"/>
          </a:xfrm>
          <a:prstGeom prst="line">
            <a:avLst/>
          </a:prstGeom>
          <a:ln w="27940">
            <a:solidFill>
              <a:srgbClr val="268D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812530" y="4892040"/>
            <a:ext cx="2370582" cy="1005840"/>
          </a:xfrm>
          <a:prstGeom prst="roundRect">
            <a:avLst/>
          </a:prstGeom>
          <a:solidFill>
            <a:srgbClr val="E7F6F3"/>
          </a:solidFill>
          <a:ln w="10160">
            <a:solidFill>
              <a:srgbClr val="15A9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85682" y="4965192"/>
            <a:ext cx="2224277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BOT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85682" y="5376672"/>
            <a:ext cx="2224277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07086"/>
                </a:solidFill>
                <a:latin typeface="Aptos"/>
              </a:rPr>
              <a:t>GỬI CẢNH BÁO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6163056"/>
            <a:ext cx="11009376" cy="484632"/>
          </a:xfrm>
          <a:prstGeom prst="roundRect">
            <a:avLst/>
          </a:prstGeom>
          <a:solidFill>
            <a:srgbClr val="14243A"/>
          </a:solidFill>
          <a:ln w="10160">
            <a:solidFill>
              <a:srgbClr val="14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9808" y="6190488"/>
            <a:ext cx="10680192" cy="420624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ptos"/>
              </a:rPr>
              <a:t>ĐỐI TƯỢNG ĐO  Số CPU/RAM lấy từ Ubuntu VM, không phải toàn Windows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5A995"/>
          </a:solidFill>
          <a:ln w="10160">
            <a:solidFill>
              <a:srgbClr val="15A9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85216" y="228600"/>
            <a:ext cx="8046720" cy="347472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87C71"/>
                </a:solidFill>
                <a:latin typeface="Aptos"/>
              </a:rPr>
              <a:t>QTMNC  /  MẠNG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72" y="621792"/>
            <a:ext cx="10058400" cy="603504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4243A"/>
                </a:solidFill>
                <a:latin typeface="Aptos"/>
              </a:rPr>
              <a:t>Mô hình mạng hiện tại trên GNS3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835640" y="603504"/>
            <a:ext cx="768096" cy="502920"/>
          </a:xfrm>
          <a:prstGeom prst="roundRect">
            <a:avLst/>
          </a:prstGeom>
          <a:solidFill>
            <a:srgbClr val="14243A"/>
          </a:solidFill>
          <a:ln w="10160">
            <a:solidFill>
              <a:srgbClr val="14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63072" y="640080"/>
            <a:ext cx="713232" cy="420624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ptos"/>
              </a:rP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353312"/>
            <a:ext cx="11009376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FE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417320"/>
            <a:ext cx="10680192" cy="621792"/>
          </a:xfrm>
          <a:prstGeom prst="rect">
            <a:avLst/>
          </a:prstGeom>
          <a:noFill/>
        </p:spPr>
        <p:txBody>
          <a:bodyPr wrap="square" anchor="ctr" lIns="36576" rIns="36576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THÔNG ĐIỆP  ·  Đường giám sát dùng subnet 192.168.10.0/24; ens37 quản trị và ens33 là interface theo dõi.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221992"/>
            <a:ext cx="11009376" cy="621792"/>
          </a:xfrm>
          <a:prstGeom prst="roundRect">
            <a:avLst/>
          </a:prstGeom>
          <a:solidFill>
            <a:srgbClr val="EAF0FF"/>
          </a:solidFill>
          <a:ln w="10160">
            <a:solidFill>
              <a:srgbClr val="EA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2221992"/>
            <a:ext cx="73152" cy="621792"/>
          </a:xfrm>
          <a:prstGeom prst="rect">
            <a:avLst/>
          </a:prstGeom>
          <a:solidFill>
            <a:srgbClr val="4C78E8"/>
          </a:solidFill>
          <a:ln w="10160">
            <a:solidFill>
              <a:srgbClr val="4C7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2258568"/>
            <a:ext cx="10698480" cy="539496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01  Windows: Card TAP Local Area Connection: 192.168.10.1/24.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935224"/>
            <a:ext cx="11009376" cy="621792"/>
          </a:xfrm>
          <a:prstGeom prst="roundRect">
            <a:avLst/>
          </a:prstGeom>
          <a:solidFill>
            <a:srgbClr val="FFF3DF"/>
          </a:solidFill>
          <a:ln w="10160">
            <a:solidFill>
              <a:srgbClr val="FF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" y="2935224"/>
            <a:ext cx="73152" cy="621792"/>
          </a:xfrm>
          <a:prstGeom prst="rect">
            <a:avLst/>
          </a:prstGeom>
          <a:solidFill>
            <a:srgbClr val="E7A23B"/>
          </a:solidFill>
          <a:ln w="10160">
            <a:solidFill>
              <a:srgbClr val="E7A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2971800"/>
            <a:ext cx="10698480" cy="539496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4243A"/>
                </a:solidFill>
                <a:latin typeface="Aptos"/>
              </a:rPr>
              <a:t>02  Đường SSH: Cloud-WINDOWS → Switch1 → Cloud-LINUX/VMnet2 → ens37.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648456"/>
            <a:ext cx="11009376" cy="621792"/>
          </a:xfrm>
          <a:prstGeom prst="roundRect">
            <a:avLst/>
          </a:prstGeom>
          <a:solidFill>
            <a:srgbClr val="E7F6F3"/>
          </a:solidFill>
          <a:ln w="10160">
            <a:solidFill>
              <a:srgbClr val="E7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648456"/>
            <a:ext cx="73152" cy="621792"/>
          </a:xfrm>
          <a:prstGeom prst="rect">
            <a:avLst/>
          </a:prstGeom>
          <a:solidFill>
            <a:srgbClr val="15A995"/>
          </a:solidFill>
          <a:ln w="10160">
            <a:solidFill>
              <a:srgbClr val="15A9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3685032"/>
            <a:ext cx="10698480" cy="539496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4243A"/>
                </a:solidFill>
                <a:latin typeface="Aptos"/>
              </a:rPr>
              <a:t>03  Interface đo: ens33 NAT; đã ghi nhận 192.168.73.129/24, gateway .73.2.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4462272"/>
            <a:ext cx="11009376" cy="15727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FE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517136"/>
            <a:ext cx="10607040" cy="301752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87C71"/>
                </a:solidFill>
                <a:latin typeface="Aptos"/>
              </a:rPr>
              <a:t>GỢI Ý TRỰC QUAN  ·  SƠ ĐỒ MẠNG GNS3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4983" y="4892040"/>
            <a:ext cx="2370582" cy="1005840"/>
          </a:xfrm>
          <a:prstGeom prst="roundRect">
            <a:avLst/>
          </a:prstGeom>
          <a:solidFill>
            <a:srgbClr val="EAF0FF"/>
          </a:solidFill>
          <a:ln w="10160">
            <a:solidFill>
              <a:srgbClr val="4C7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8136" y="4965192"/>
            <a:ext cx="2224277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" y="5376672"/>
            <a:ext cx="2224277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07086"/>
                </a:solidFill>
                <a:latin typeface="Aptos"/>
              </a:rPr>
              <a:t>TAP · .10.1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422141" y="5394959"/>
            <a:ext cx="155448" cy="0"/>
          </a:xfrm>
          <a:prstGeom prst="line">
            <a:avLst/>
          </a:prstGeom>
          <a:ln w="27940">
            <a:solidFill>
              <a:srgbClr val="4C7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3614165" y="4892040"/>
            <a:ext cx="2370582" cy="1005840"/>
          </a:xfrm>
          <a:prstGeom prst="roundRect">
            <a:avLst/>
          </a:prstGeom>
          <a:solidFill>
            <a:srgbClr val="FFF3DF"/>
          </a:solidFill>
          <a:ln w="10160">
            <a:solidFill>
              <a:srgbClr val="E7A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87318" y="4965192"/>
            <a:ext cx="2224277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CLOUD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87318" y="5376672"/>
            <a:ext cx="2224277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07086"/>
                </a:solidFill>
                <a:latin typeface="Aptos"/>
              </a:rPr>
              <a:t>GNS3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021324" y="5394959"/>
            <a:ext cx="155448" cy="0"/>
          </a:xfrm>
          <a:prstGeom prst="line">
            <a:avLst/>
          </a:prstGeom>
          <a:ln w="27940">
            <a:solidFill>
              <a:srgbClr val="E7A2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213348" y="4892040"/>
            <a:ext cx="2370582" cy="1005840"/>
          </a:xfrm>
          <a:prstGeom prst="roundRect">
            <a:avLst/>
          </a:prstGeom>
          <a:solidFill>
            <a:srgbClr val="E5F3EC"/>
          </a:solidFill>
          <a:ln w="10160">
            <a:solidFill>
              <a:srgbClr val="268D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86500" y="4965192"/>
            <a:ext cx="2224277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SWITCH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6500" y="5376672"/>
            <a:ext cx="2224277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07086"/>
                </a:solidFill>
                <a:latin typeface="Aptos"/>
              </a:rPr>
              <a:t>VLAN 1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620505" y="5394959"/>
            <a:ext cx="155449" cy="0"/>
          </a:xfrm>
          <a:prstGeom prst="line">
            <a:avLst/>
          </a:prstGeom>
          <a:ln w="27940">
            <a:solidFill>
              <a:srgbClr val="268D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812530" y="4892040"/>
            <a:ext cx="2370582" cy="1005840"/>
          </a:xfrm>
          <a:prstGeom prst="roundRect">
            <a:avLst/>
          </a:prstGeom>
          <a:solidFill>
            <a:srgbClr val="E7F6F3"/>
          </a:solidFill>
          <a:ln w="10160">
            <a:solidFill>
              <a:srgbClr val="15A9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85682" y="4965192"/>
            <a:ext cx="2224277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UBUNTU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85682" y="5376672"/>
            <a:ext cx="2224277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07086"/>
                </a:solidFill>
                <a:latin typeface="Aptos"/>
              </a:rPr>
              <a:t>ens37 · .10.129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6163056"/>
            <a:ext cx="11009376" cy="484632"/>
          </a:xfrm>
          <a:prstGeom prst="roundRect">
            <a:avLst/>
          </a:prstGeom>
          <a:solidFill>
            <a:srgbClr val="14243A"/>
          </a:solidFill>
          <a:ln w="10160">
            <a:solidFill>
              <a:srgbClr val="14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9808" y="6190488"/>
            <a:ext cx="10680192" cy="420624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ptos"/>
              </a:rPr>
              <a:t>SSH ĐÍCH  192.168.10.129:22  ·  ens37 192.168.10.129/24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5A995"/>
          </a:solidFill>
          <a:ln w="10160">
            <a:solidFill>
              <a:srgbClr val="15A9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85216" y="228600"/>
            <a:ext cx="8046720" cy="347472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87C71"/>
                </a:solidFill>
                <a:latin typeface="Aptos"/>
              </a:rPr>
              <a:t>QTMNC  /  MẠNG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72" y="621792"/>
            <a:ext cx="10058400" cy="603504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4243A"/>
                </a:solidFill>
                <a:latin typeface="Aptos"/>
              </a:rPr>
              <a:t>Đường SSH và vai trò TAP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835640" y="603504"/>
            <a:ext cx="768096" cy="502920"/>
          </a:xfrm>
          <a:prstGeom prst="roundRect">
            <a:avLst/>
          </a:prstGeom>
          <a:solidFill>
            <a:srgbClr val="14243A"/>
          </a:solidFill>
          <a:ln w="10160">
            <a:solidFill>
              <a:srgbClr val="14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63072" y="640080"/>
            <a:ext cx="713232" cy="420624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ptos"/>
              </a:rP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353312"/>
            <a:ext cx="11009376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FE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417320"/>
            <a:ext cx="10680192" cy="621792"/>
          </a:xfrm>
          <a:prstGeom prst="rect">
            <a:avLst/>
          </a:prstGeom>
          <a:noFill/>
        </p:spPr>
        <p:txBody>
          <a:bodyPr wrap="square" anchor="ctr" lIns="36576" rIns="36576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THÔNG ĐIỆP  ·  TAP/UDP chỉ nối Windows vào lab GNS3 hiện tại; SSH mới vận chuyển yêu cầu lấy số liệu.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221992"/>
            <a:ext cx="11009376" cy="621792"/>
          </a:xfrm>
          <a:prstGeom prst="roundRect">
            <a:avLst/>
          </a:prstGeom>
          <a:solidFill>
            <a:srgbClr val="EAF0FF"/>
          </a:solidFill>
          <a:ln w="10160">
            <a:solidFill>
              <a:srgbClr val="EA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2221992"/>
            <a:ext cx="73152" cy="621792"/>
          </a:xfrm>
          <a:prstGeom prst="rect">
            <a:avLst/>
          </a:prstGeom>
          <a:solidFill>
            <a:srgbClr val="4C78E8"/>
          </a:solidFill>
          <a:ln w="10160">
            <a:solidFill>
              <a:srgbClr val="4C7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2258568"/>
            <a:ext cx="10698480" cy="539496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01  SSH: Phiên TCP/22 được thiết lập từ Windows tới Ubuntu .10.129.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935224"/>
            <a:ext cx="11009376" cy="621792"/>
          </a:xfrm>
          <a:prstGeom prst="roundRect">
            <a:avLst/>
          </a:prstGeom>
          <a:solidFill>
            <a:srgbClr val="FFF3DF"/>
          </a:solidFill>
          <a:ln w="10160">
            <a:solidFill>
              <a:srgbClr val="FF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" y="2935224"/>
            <a:ext cx="73152" cy="621792"/>
          </a:xfrm>
          <a:prstGeom prst="rect">
            <a:avLst/>
          </a:prstGeom>
          <a:solidFill>
            <a:srgbClr val="E7A23B"/>
          </a:solidFill>
          <a:ln w="10160">
            <a:solidFill>
              <a:srgbClr val="E7A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2971800"/>
            <a:ext cx="10698480" cy="539496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4243A"/>
                </a:solidFill>
                <a:latin typeface="Aptos"/>
              </a:rPr>
              <a:t>02  Cầu nối: TAP-Windows + UDP localhost đưa Ethernet vào Cloud GNS3.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648456"/>
            <a:ext cx="11009376" cy="621792"/>
          </a:xfrm>
          <a:prstGeom prst="roundRect">
            <a:avLst/>
          </a:prstGeom>
          <a:solidFill>
            <a:srgbClr val="E7F6F3"/>
          </a:solidFill>
          <a:ln w="10160">
            <a:solidFill>
              <a:srgbClr val="E7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648456"/>
            <a:ext cx="73152" cy="621792"/>
          </a:xfrm>
          <a:prstGeom prst="rect">
            <a:avLst/>
          </a:prstGeom>
          <a:solidFill>
            <a:srgbClr val="15A995"/>
          </a:solidFill>
          <a:ln w="10160">
            <a:solidFill>
              <a:srgbClr val="15A9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3685032"/>
            <a:ext cx="10698480" cy="539496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4243A"/>
                </a:solidFill>
                <a:latin typeface="Aptos"/>
              </a:rPr>
              <a:t>03  Phạm vi: TAP không đo CPU/RAM, không đánh giá và không gửi cảnh báo.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4462272"/>
            <a:ext cx="11009376" cy="15727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FE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517136"/>
            <a:ext cx="10607040" cy="301752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87C71"/>
                </a:solidFill>
                <a:latin typeface="Aptos"/>
              </a:rPr>
              <a:t>GỢI Ý TRỰC QUAN  ·  LUỒNG YÊU CẦU VÀ CHIỀU TRẢ LỜI SSH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4983" y="4892040"/>
            <a:ext cx="2370582" cy="1005840"/>
          </a:xfrm>
          <a:prstGeom prst="roundRect">
            <a:avLst/>
          </a:prstGeom>
          <a:solidFill>
            <a:srgbClr val="EAF0FF"/>
          </a:solidFill>
          <a:ln w="10160">
            <a:solidFill>
              <a:srgbClr val="4C7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8136" y="4965192"/>
            <a:ext cx="2224277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PYTHON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" y="5376672"/>
            <a:ext cx="2224277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07086"/>
                </a:solidFill>
                <a:latin typeface="Aptos"/>
              </a:rPr>
              <a:t>YÊU CẦU SSH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422141" y="5394959"/>
            <a:ext cx="155448" cy="0"/>
          </a:xfrm>
          <a:prstGeom prst="line">
            <a:avLst/>
          </a:prstGeom>
          <a:ln w="27940">
            <a:solidFill>
              <a:srgbClr val="4C7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3614165" y="4892040"/>
            <a:ext cx="2370582" cy="1005840"/>
          </a:xfrm>
          <a:prstGeom prst="roundRect">
            <a:avLst/>
          </a:prstGeom>
          <a:solidFill>
            <a:srgbClr val="FFF3DF"/>
          </a:solidFill>
          <a:ln w="10160">
            <a:solidFill>
              <a:srgbClr val="E7A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87318" y="4965192"/>
            <a:ext cx="2224277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TAP / UDP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87318" y="5376672"/>
            <a:ext cx="2224277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07086"/>
                </a:solidFill>
                <a:latin typeface="Aptos"/>
              </a:rPr>
              <a:t>FRAME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021324" y="5394959"/>
            <a:ext cx="155448" cy="0"/>
          </a:xfrm>
          <a:prstGeom prst="line">
            <a:avLst/>
          </a:prstGeom>
          <a:ln w="27940">
            <a:solidFill>
              <a:srgbClr val="E7A2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213348" y="4892040"/>
            <a:ext cx="2370582" cy="1005840"/>
          </a:xfrm>
          <a:prstGeom prst="roundRect">
            <a:avLst/>
          </a:prstGeom>
          <a:solidFill>
            <a:srgbClr val="E5F3EC"/>
          </a:solidFill>
          <a:ln w="10160">
            <a:solidFill>
              <a:srgbClr val="268D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86500" y="4965192"/>
            <a:ext cx="2224277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GNS3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6500" y="5376672"/>
            <a:ext cx="2224277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07086"/>
                </a:solidFill>
                <a:latin typeface="Aptos"/>
              </a:rPr>
              <a:t>SWITCH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620505" y="5394959"/>
            <a:ext cx="155449" cy="0"/>
          </a:xfrm>
          <a:prstGeom prst="line">
            <a:avLst/>
          </a:prstGeom>
          <a:ln w="27940">
            <a:solidFill>
              <a:srgbClr val="268D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812530" y="4892040"/>
            <a:ext cx="2370582" cy="1005840"/>
          </a:xfrm>
          <a:prstGeom prst="roundRect">
            <a:avLst/>
          </a:prstGeom>
          <a:solidFill>
            <a:srgbClr val="E7F6F3"/>
          </a:solidFill>
          <a:ln w="10160">
            <a:solidFill>
              <a:srgbClr val="15A9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85682" y="4965192"/>
            <a:ext cx="2224277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UBUNTU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85682" y="5376672"/>
            <a:ext cx="2224277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07086"/>
                </a:solidFill>
                <a:latin typeface="Aptos"/>
              </a:rPr>
              <a:t>SSHD · 22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6163056"/>
            <a:ext cx="11009376" cy="484632"/>
          </a:xfrm>
          <a:prstGeom prst="roundRect">
            <a:avLst/>
          </a:prstGeom>
          <a:solidFill>
            <a:srgbClr val="14243A"/>
          </a:solidFill>
          <a:ln w="10160">
            <a:solidFill>
              <a:srgbClr val="14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9808" y="6190488"/>
            <a:ext cx="10680192" cy="420624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ptos"/>
              </a:rPr>
              <a:t>UDP CẦU NỐI  Cloud local 30010 ↔ helper 127.0.0.1:30011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5A995"/>
          </a:solidFill>
          <a:ln w="10160">
            <a:solidFill>
              <a:srgbClr val="15A9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85216" y="228600"/>
            <a:ext cx="8046720" cy="347472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87C71"/>
                </a:solidFill>
                <a:latin typeface="Aptos"/>
              </a:rPr>
              <a:t>QTMNC  /  THU THẬP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72" y="621792"/>
            <a:ext cx="10058400" cy="603504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4243A"/>
                </a:solidFill>
                <a:latin typeface="Aptos"/>
              </a:rPr>
              <a:t>Lựa chọn giao thức thu thập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835640" y="603504"/>
            <a:ext cx="768096" cy="502920"/>
          </a:xfrm>
          <a:prstGeom prst="roundRect">
            <a:avLst/>
          </a:prstGeom>
          <a:solidFill>
            <a:srgbClr val="14243A"/>
          </a:solidFill>
          <a:ln w="10160">
            <a:solidFill>
              <a:srgbClr val="14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63072" y="640080"/>
            <a:ext cx="713232" cy="420624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ptos"/>
              </a:rPr>
              <a:t>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353312"/>
            <a:ext cx="11009376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FE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417320"/>
            <a:ext cx="10680192" cy="621792"/>
          </a:xfrm>
          <a:prstGeom prst="rect">
            <a:avLst/>
          </a:prstGeom>
          <a:noFill/>
        </p:spPr>
        <p:txBody>
          <a:bodyPr wrap="square" anchor="ctr" lIns="36576" rIns="36576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THÔNG ĐIỆP  ·  SSH, SNMP và hybrid dùng các cách lấy số liệu khác nhau nhưng chung phần đánh giá và cảnh báo.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221992"/>
            <a:ext cx="11009376" cy="621792"/>
          </a:xfrm>
          <a:prstGeom prst="roundRect">
            <a:avLst/>
          </a:prstGeom>
          <a:solidFill>
            <a:srgbClr val="EAF0FF"/>
          </a:solidFill>
          <a:ln w="10160">
            <a:solidFill>
              <a:srgbClr val="EA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2221992"/>
            <a:ext cx="73152" cy="621792"/>
          </a:xfrm>
          <a:prstGeom prst="rect">
            <a:avLst/>
          </a:prstGeom>
          <a:solidFill>
            <a:srgbClr val="4C78E8"/>
          </a:solidFill>
          <a:ln w="10160">
            <a:solidFill>
              <a:srgbClr val="4C7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2258568"/>
            <a:ext cx="10698480" cy="539496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01  SSH: TCP/22; chạy lệnh Linux qua Paramiko; là bản đơn giản hiện dùng.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935224"/>
            <a:ext cx="11009376" cy="621792"/>
          </a:xfrm>
          <a:prstGeom prst="roundRect">
            <a:avLst/>
          </a:prstGeom>
          <a:solidFill>
            <a:srgbClr val="FFF3DF"/>
          </a:solidFill>
          <a:ln w="10160">
            <a:solidFill>
              <a:srgbClr val="FF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" y="2935224"/>
            <a:ext cx="73152" cy="621792"/>
          </a:xfrm>
          <a:prstGeom prst="rect">
            <a:avLst/>
          </a:prstGeom>
          <a:solidFill>
            <a:srgbClr val="E7A23B"/>
          </a:solidFill>
          <a:ln w="10160">
            <a:solidFill>
              <a:srgbClr val="E7A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2971800"/>
            <a:ext cx="10698480" cy="539496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4243A"/>
                </a:solidFill>
                <a:latin typeface="Aptos"/>
              </a:rPr>
              <a:t>02  SNMP: UDP/161; hỏi agent bằng OID; cần agent và cấu hình tương ứng.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648456"/>
            <a:ext cx="11009376" cy="621792"/>
          </a:xfrm>
          <a:prstGeom prst="roundRect">
            <a:avLst/>
          </a:prstGeom>
          <a:solidFill>
            <a:srgbClr val="E7F6F3"/>
          </a:solidFill>
          <a:ln w="10160">
            <a:solidFill>
              <a:srgbClr val="E7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648456"/>
            <a:ext cx="73152" cy="621792"/>
          </a:xfrm>
          <a:prstGeom prst="rect">
            <a:avLst/>
          </a:prstGeom>
          <a:solidFill>
            <a:srgbClr val="15A995"/>
          </a:solidFill>
          <a:ln w="10160">
            <a:solidFill>
              <a:srgbClr val="15A9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3685032"/>
            <a:ext cx="10698480" cy="539496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4243A"/>
                </a:solidFill>
                <a:latin typeface="Aptos"/>
              </a:rPr>
              <a:t>03  Hybrid: Ưu tiên SSH cho metric; ưu tiên SNMP cho interface; có dự phòng.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4462272"/>
            <a:ext cx="11009376" cy="15727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FE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517136"/>
            <a:ext cx="10607040" cy="301752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87C71"/>
                </a:solidFill>
                <a:latin typeface="Aptos"/>
              </a:rPr>
              <a:t>GỢI Ý TRỰC QUAN  ·  SO SÁNH 3 GIAO THỨC BẰNG THẺ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4983" y="4892040"/>
            <a:ext cx="3176016" cy="1005840"/>
          </a:xfrm>
          <a:prstGeom prst="roundRect">
            <a:avLst/>
          </a:prstGeom>
          <a:solidFill>
            <a:srgbClr val="EAF0FF"/>
          </a:solidFill>
          <a:ln w="10160">
            <a:solidFill>
              <a:srgbClr val="4C7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8136" y="4965192"/>
            <a:ext cx="3029711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SSH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" y="5376672"/>
            <a:ext cx="3029711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07086"/>
                </a:solidFill>
                <a:latin typeface="Aptos"/>
              </a:rPr>
              <a:t>TCP / 22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227576" y="5394959"/>
            <a:ext cx="246887" cy="0"/>
          </a:xfrm>
          <a:prstGeom prst="line">
            <a:avLst/>
          </a:prstGeom>
          <a:ln w="27940">
            <a:solidFill>
              <a:srgbClr val="4C7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511040" y="4892040"/>
            <a:ext cx="3176016" cy="1005840"/>
          </a:xfrm>
          <a:prstGeom prst="roundRect">
            <a:avLst/>
          </a:prstGeom>
          <a:solidFill>
            <a:srgbClr val="FFF3DF"/>
          </a:solidFill>
          <a:ln w="10160">
            <a:solidFill>
              <a:srgbClr val="E7A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84192" y="4965192"/>
            <a:ext cx="3029711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SNMP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84192" y="5376672"/>
            <a:ext cx="3029711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07086"/>
                </a:solidFill>
                <a:latin typeface="Aptos"/>
              </a:rPr>
              <a:t>UDP / 161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723631" y="5394959"/>
            <a:ext cx="246889" cy="0"/>
          </a:xfrm>
          <a:prstGeom prst="line">
            <a:avLst/>
          </a:prstGeom>
          <a:ln w="27940">
            <a:solidFill>
              <a:srgbClr val="E7A2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007095" y="4892040"/>
            <a:ext cx="3176016" cy="1005840"/>
          </a:xfrm>
          <a:prstGeom prst="roundRect">
            <a:avLst/>
          </a:prstGeom>
          <a:solidFill>
            <a:srgbClr val="E5F3EC"/>
          </a:solidFill>
          <a:ln w="10160">
            <a:solidFill>
              <a:srgbClr val="268D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80247" y="4965192"/>
            <a:ext cx="3029711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HYBRID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80247" y="5376672"/>
            <a:ext cx="3029711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07086"/>
                </a:solidFill>
                <a:latin typeface="Aptos"/>
              </a:rPr>
              <a:t>DỰ PHÒNG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4360" y="6163056"/>
            <a:ext cx="11009376" cy="484632"/>
          </a:xfrm>
          <a:prstGeom prst="roundRect">
            <a:avLst/>
          </a:prstGeom>
          <a:solidFill>
            <a:srgbClr val="14243A"/>
          </a:solidFill>
          <a:ln w="10160">
            <a:solidFill>
              <a:srgbClr val="14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6190488"/>
            <a:ext cx="10680192" cy="420624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ptos"/>
              </a:rPr>
              <a:t>HYBRID  Mất từng dịch vụ vẫn hiển thị trạng thái; nguồn còn lại có thể tiếp tục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5A995"/>
          </a:solidFill>
          <a:ln w="10160">
            <a:solidFill>
              <a:srgbClr val="15A9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85216" y="228600"/>
            <a:ext cx="8046720" cy="347472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87C71"/>
                </a:solidFill>
                <a:latin typeface="Aptos"/>
              </a:rPr>
              <a:t>QTMNC  /  PHẦN MỀM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72" y="621792"/>
            <a:ext cx="10058400" cy="603504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4243A"/>
                </a:solidFill>
                <a:latin typeface="Aptos"/>
              </a:rPr>
              <a:t>Các module phần mềm chính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835640" y="603504"/>
            <a:ext cx="768096" cy="502920"/>
          </a:xfrm>
          <a:prstGeom prst="roundRect">
            <a:avLst/>
          </a:prstGeom>
          <a:solidFill>
            <a:srgbClr val="14243A"/>
          </a:solidFill>
          <a:ln w="10160">
            <a:solidFill>
              <a:srgbClr val="14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63072" y="640080"/>
            <a:ext cx="713232" cy="420624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ptos"/>
              </a:rPr>
              <a:t>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353312"/>
            <a:ext cx="11009376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FE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417320"/>
            <a:ext cx="10680192" cy="621792"/>
          </a:xfrm>
          <a:prstGeom prst="rect">
            <a:avLst/>
          </a:prstGeom>
          <a:noFill/>
        </p:spPr>
        <p:txBody>
          <a:bodyPr wrap="square" anchor="ctr" lIns="36576" rIns="36576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THÔNG ĐIỆP  ·  Các module tách thu thập, trạng thái và gửi cảnh báo để dễ giải thích và mở rộng.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221992"/>
            <a:ext cx="11009376" cy="621792"/>
          </a:xfrm>
          <a:prstGeom prst="roundRect">
            <a:avLst/>
          </a:prstGeom>
          <a:solidFill>
            <a:srgbClr val="EAF0FF"/>
          </a:solidFill>
          <a:ln w="10160">
            <a:solidFill>
              <a:srgbClr val="EA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2221992"/>
            <a:ext cx="73152" cy="621792"/>
          </a:xfrm>
          <a:prstGeom prst="rect">
            <a:avLst/>
          </a:prstGeom>
          <a:solidFill>
            <a:srgbClr val="4C78E8"/>
          </a:solidFill>
          <a:ln w="10160">
            <a:solidFill>
              <a:srgbClr val="4C7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2258568"/>
            <a:ext cx="10698480" cy="539496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01  Điểm vào: monitor.py điều phối cấu hình, SSH, bảng và vòng lặp.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935224"/>
            <a:ext cx="11009376" cy="621792"/>
          </a:xfrm>
          <a:prstGeom prst="roundRect">
            <a:avLst/>
          </a:prstGeom>
          <a:solidFill>
            <a:srgbClr val="FFF3DF"/>
          </a:solidFill>
          <a:ln w="10160">
            <a:solidFill>
              <a:srgbClr val="FF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" y="2935224"/>
            <a:ext cx="73152" cy="621792"/>
          </a:xfrm>
          <a:prstGeom prst="rect">
            <a:avLst/>
          </a:prstGeom>
          <a:solidFill>
            <a:srgbClr val="E7A23B"/>
          </a:solidFill>
          <a:ln w="10160">
            <a:solidFill>
              <a:srgbClr val="E7A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2971800"/>
            <a:ext cx="10698480" cy="539496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4243A"/>
                </a:solidFill>
                <a:latin typeface="Aptos"/>
              </a:rPr>
              <a:t>02  Xử lý: Collectors lấy số liệu; engine quyết định OK/ALERT/UNKNOWN.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648456"/>
            <a:ext cx="11009376" cy="621792"/>
          </a:xfrm>
          <a:prstGeom prst="roundRect">
            <a:avLst/>
          </a:prstGeom>
          <a:solidFill>
            <a:srgbClr val="E7F6F3"/>
          </a:solidFill>
          <a:ln w="10160">
            <a:solidFill>
              <a:srgbClr val="E7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648456"/>
            <a:ext cx="73152" cy="621792"/>
          </a:xfrm>
          <a:prstGeom prst="rect">
            <a:avLst/>
          </a:prstGeom>
          <a:solidFill>
            <a:srgbClr val="15A995"/>
          </a:solidFill>
          <a:ln w="10160">
            <a:solidFill>
              <a:srgbClr val="15A9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3685032"/>
            <a:ext cx="10698480" cy="539496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4243A"/>
                </a:solidFill>
                <a:latin typeface="Aptos"/>
              </a:rPr>
              <a:t>03  Đầu ra: storage.py lưu SQLite; notifications.py gửi và retry.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4462272"/>
            <a:ext cx="11009376" cy="15727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FE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517136"/>
            <a:ext cx="10607040" cy="301752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87C71"/>
                </a:solidFill>
                <a:latin typeface="Aptos"/>
              </a:rPr>
              <a:t>GỢI Ý TRỰC QUAN  ·  SƠ ĐỒ MODULE DẠNG LƯỚI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4983" y="4892040"/>
            <a:ext cx="2370582" cy="1005840"/>
          </a:xfrm>
          <a:prstGeom prst="roundRect">
            <a:avLst/>
          </a:prstGeom>
          <a:solidFill>
            <a:srgbClr val="EAF0FF"/>
          </a:solidFill>
          <a:ln w="10160">
            <a:solidFill>
              <a:srgbClr val="4C7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8136" y="4965192"/>
            <a:ext cx="2224277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COLLECTOR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" y="5376672"/>
            <a:ext cx="2224277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07086"/>
                </a:solidFill>
                <a:latin typeface="Aptos"/>
              </a:rPr>
              <a:t>SSH / SNMP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422141" y="5394959"/>
            <a:ext cx="155448" cy="0"/>
          </a:xfrm>
          <a:prstGeom prst="line">
            <a:avLst/>
          </a:prstGeom>
          <a:ln w="27940">
            <a:solidFill>
              <a:srgbClr val="4C7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3614165" y="4892040"/>
            <a:ext cx="2370582" cy="1005840"/>
          </a:xfrm>
          <a:prstGeom prst="roundRect">
            <a:avLst/>
          </a:prstGeom>
          <a:solidFill>
            <a:srgbClr val="FFF3DF"/>
          </a:solidFill>
          <a:ln w="10160">
            <a:solidFill>
              <a:srgbClr val="E7A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87318" y="4965192"/>
            <a:ext cx="2224277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ENGINE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87318" y="5376672"/>
            <a:ext cx="2224277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07086"/>
                </a:solidFill>
                <a:latin typeface="Aptos"/>
              </a:rPr>
              <a:t>NGƯỠNG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021324" y="5394959"/>
            <a:ext cx="155448" cy="0"/>
          </a:xfrm>
          <a:prstGeom prst="line">
            <a:avLst/>
          </a:prstGeom>
          <a:ln w="27940">
            <a:solidFill>
              <a:srgbClr val="E7A2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213348" y="4892040"/>
            <a:ext cx="2370582" cy="1005840"/>
          </a:xfrm>
          <a:prstGeom prst="roundRect">
            <a:avLst/>
          </a:prstGeom>
          <a:solidFill>
            <a:srgbClr val="E5F3EC"/>
          </a:solidFill>
          <a:ln w="10160">
            <a:solidFill>
              <a:srgbClr val="268D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86500" y="4965192"/>
            <a:ext cx="2224277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SQLITE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6500" y="5376672"/>
            <a:ext cx="2224277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07086"/>
                </a:solidFill>
                <a:latin typeface="Aptos"/>
              </a:rPr>
              <a:t>STATE / OUTBOX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620505" y="5394959"/>
            <a:ext cx="155449" cy="0"/>
          </a:xfrm>
          <a:prstGeom prst="line">
            <a:avLst/>
          </a:prstGeom>
          <a:ln w="27940">
            <a:solidFill>
              <a:srgbClr val="268D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812530" y="4892040"/>
            <a:ext cx="2370582" cy="1005840"/>
          </a:xfrm>
          <a:prstGeom prst="roundRect">
            <a:avLst/>
          </a:prstGeom>
          <a:solidFill>
            <a:srgbClr val="E7F6F3"/>
          </a:solidFill>
          <a:ln w="10160">
            <a:solidFill>
              <a:srgbClr val="15A9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85682" y="4965192"/>
            <a:ext cx="2224277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SENDER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85682" y="5376672"/>
            <a:ext cx="2224277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07086"/>
                </a:solidFill>
                <a:latin typeface="Aptos"/>
              </a:rPr>
              <a:t>TELEGRAM / SLACK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6163056"/>
            <a:ext cx="11009376" cy="484632"/>
          </a:xfrm>
          <a:prstGeom prst="roundRect">
            <a:avLst/>
          </a:prstGeom>
          <a:solidFill>
            <a:srgbClr val="14243A"/>
          </a:solidFill>
          <a:ln w="10160">
            <a:solidFill>
              <a:srgbClr val="14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9808" y="6190488"/>
            <a:ext cx="10680192" cy="420624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ptos"/>
              </a:rPr>
              <a:t>MÃ CHÍNH  config → collectors → engine → storage → notifications → ui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5A995"/>
          </a:solidFill>
          <a:ln w="10160">
            <a:solidFill>
              <a:srgbClr val="15A9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85216" y="228600"/>
            <a:ext cx="8046720" cy="347472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87C71"/>
                </a:solidFill>
                <a:latin typeface="Aptos"/>
              </a:rPr>
              <a:t>QTMNC  /  CHỈ SỐ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72" y="621792"/>
            <a:ext cx="10058400" cy="603504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4243A"/>
                </a:solidFill>
                <a:latin typeface="Aptos"/>
              </a:rPr>
              <a:t>Bốn chỉ số thiết bị cần theo dõi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835640" y="603504"/>
            <a:ext cx="768096" cy="502920"/>
          </a:xfrm>
          <a:prstGeom prst="roundRect">
            <a:avLst/>
          </a:prstGeom>
          <a:solidFill>
            <a:srgbClr val="14243A"/>
          </a:solidFill>
          <a:ln w="10160">
            <a:solidFill>
              <a:srgbClr val="14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63072" y="640080"/>
            <a:ext cx="713232" cy="420624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ptos"/>
              </a:rPr>
              <a:t>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353312"/>
            <a:ext cx="11009376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FE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417320"/>
            <a:ext cx="10680192" cy="621792"/>
          </a:xfrm>
          <a:prstGeom prst="rect">
            <a:avLst/>
          </a:prstGeom>
          <a:noFill/>
        </p:spPr>
        <p:txBody>
          <a:bodyPr wrap="square" anchor="ctr" lIns="36576" rIns="36576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THÔNG ĐIỆP  ·  Bản đơn giản thu thập bốn nhóm chỉ số trên Ubuntu; một chỉ số thiếu không phủ định các chỉ số khác.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221992"/>
            <a:ext cx="11009376" cy="621792"/>
          </a:xfrm>
          <a:prstGeom prst="roundRect">
            <a:avLst/>
          </a:prstGeom>
          <a:solidFill>
            <a:srgbClr val="EAF0FF"/>
          </a:solidFill>
          <a:ln w="10160">
            <a:solidFill>
              <a:srgbClr val="EA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2221992"/>
            <a:ext cx="73152" cy="621792"/>
          </a:xfrm>
          <a:prstGeom prst="rect">
            <a:avLst/>
          </a:prstGeom>
          <a:solidFill>
            <a:srgbClr val="4C78E8"/>
          </a:solidFill>
          <a:ln w="10160">
            <a:solidFill>
              <a:srgbClr val="4C7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2258568"/>
            <a:ext cx="10698480" cy="539496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01  CPU: Hai lần đọc /proc/stat; chênh lệch biểu thị thời gian bận.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935224"/>
            <a:ext cx="11009376" cy="621792"/>
          </a:xfrm>
          <a:prstGeom prst="roundRect">
            <a:avLst/>
          </a:prstGeom>
          <a:solidFill>
            <a:srgbClr val="FFF3DF"/>
          </a:solidFill>
          <a:ln w="10160">
            <a:solidFill>
              <a:srgbClr val="FF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" y="2935224"/>
            <a:ext cx="73152" cy="621792"/>
          </a:xfrm>
          <a:prstGeom prst="rect">
            <a:avLst/>
          </a:prstGeom>
          <a:solidFill>
            <a:srgbClr val="E7A23B"/>
          </a:solidFill>
          <a:ln w="10160">
            <a:solidFill>
              <a:srgbClr val="E7A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2971800"/>
            <a:ext cx="10698480" cy="539496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4243A"/>
                </a:solidFill>
                <a:latin typeface="Aptos"/>
              </a:rPr>
              <a:t>02  RAM: /proc/meminfo; dùng MemTotal và MemAvailable.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648456"/>
            <a:ext cx="11009376" cy="621792"/>
          </a:xfrm>
          <a:prstGeom prst="roundRect">
            <a:avLst/>
          </a:prstGeom>
          <a:solidFill>
            <a:srgbClr val="E7F6F3"/>
          </a:solidFill>
          <a:ln w="10160">
            <a:solidFill>
              <a:srgbClr val="E7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648456"/>
            <a:ext cx="73152" cy="621792"/>
          </a:xfrm>
          <a:prstGeom prst="rect">
            <a:avLst/>
          </a:prstGeom>
          <a:solidFill>
            <a:srgbClr val="15A995"/>
          </a:solidFill>
          <a:ln w="10160">
            <a:solidFill>
              <a:srgbClr val="15A9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3685032"/>
            <a:ext cx="10698480" cy="539496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4243A"/>
                </a:solidFill>
                <a:latin typeface="Aptos"/>
              </a:rPr>
              <a:t>03  Nhiệt độ/interface: Cảm biến /sys nếu có; operstate của ens33.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4462272"/>
            <a:ext cx="11009376" cy="15727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FE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517136"/>
            <a:ext cx="10607040" cy="301752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87C71"/>
                </a:solidFill>
                <a:latin typeface="Aptos"/>
              </a:rPr>
              <a:t>GỢI Ý TRỰC QUAN  ·  BỐN THẺ METRIC VÀ NGUỒN DỮ LIỆU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4983" y="4892040"/>
            <a:ext cx="2370582" cy="1005840"/>
          </a:xfrm>
          <a:prstGeom prst="roundRect">
            <a:avLst/>
          </a:prstGeom>
          <a:solidFill>
            <a:srgbClr val="EAF0FF"/>
          </a:solidFill>
          <a:ln w="10160">
            <a:solidFill>
              <a:srgbClr val="4C7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8136" y="4965192"/>
            <a:ext cx="2224277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CPU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" y="5376672"/>
            <a:ext cx="2224277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07086"/>
                </a:solidFill>
                <a:latin typeface="Aptos"/>
              </a:rPr>
              <a:t>/proc/stat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422141" y="5394959"/>
            <a:ext cx="155448" cy="0"/>
          </a:xfrm>
          <a:prstGeom prst="line">
            <a:avLst/>
          </a:prstGeom>
          <a:ln w="27940">
            <a:solidFill>
              <a:srgbClr val="4C7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3614165" y="4892040"/>
            <a:ext cx="2370582" cy="1005840"/>
          </a:xfrm>
          <a:prstGeom prst="roundRect">
            <a:avLst/>
          </a:prstGeom>
          <a:solidFill>
            <a:srgbClr val="FFF3DF"/>
          </a:solidFill>
          <a:ln w="10160">
            <a:solidFill>
              <a:srgbClr val="E7A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87318" y="4965192"/>
            <a:ext cx="2224277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RAM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87318" y="5376672"/>
            <a:ext cx="2224277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07086"/>
                </a:solidFill>
                <a:latin typeface="Aptos"/>
              </a:rPr>
              <a:t>/proc/meminfo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021324" y="5394959"/>
            <a:ext cx="155448" cy="0"/>
          </a:xfrm>
          <a:prstGeom prst="line">
            <a:avLst/>
          </a:prstGeom>
          <a:ln w="27940">
            <a:solidFill>
              <a:srgbClr val="E7A2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213348" y="4892040"/>
            <a:ext cx="2370582" cy="1005840"/>
          </a:xfrm>
          <a:prstGeom prst="roundRect">
            <a:avLst/>
          </a:prstGeom>
          <a:solidFill>
            <a:srgbClr val="E5F3EC"/>
          </a:solidFill>
          <a:ln w="10160">
            <a:solidFill>
              <a:srgbClr val="268D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86500" y="4965192"/>
            <a:ext cx="2224277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TEMP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6500" y="5376672"/>
            <a:ext cx="2224277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07086"/>
                </a:solidFill>
                <a:latin typeface="Aptos"/>
              </a:rPr>
              <a:t>/sys/hwmon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620505" y="5394959"/>
            <a:ext cx="155449" cy="0"/>
          </a:xfrm>
          <a:prstGeom prst="line">
            <a:avLst/>
          </a:prstGeom>
          <a:ln w="27940">
            <a:solidFill>
              <a:srgbClr val="268D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812530" y="4892040"/>
            <a:ext cx="2370582" cy="1005840"/>
          </a:xfrm>
          <a:prstGeom prst="roundRect">
            <a:avLst/>
          </a:prstGeom>
          <a:solidFill>
            <a:srgbClr val="E7F6F3"/>
          </a:solidFill>
          <a:ln w="10160">
            <a:solidFill>
              <a:srgbClr val="15A9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85682" y="4965192"/>
            <a:ext cx="2224277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INTERFACE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85682" y="5376672"/>
            <a:ext cx="2224277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07086"/>
                </a:solidFill>
                <a:latin typeface="Aptos"/>
              </a:rPr>
              <a:t>ens33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6163056"/>
            <a:ext cx="11009376" cy="484632"/>
          </a:xfrm>
          <a:prstGeom prst="roundRect">
            <a:avLst/>
          </a:prstGeom>
          <a:solidFill>
            <a:srgbClr val="14243A"/>
          </a:solidFill>
          <a:ln w="10160">
            <a:solidFill>
              <a:srgbClr val="14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9808" y="6190488"/>
            <a:ext cx="10680192" cy="420624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ptos"/>
              </a:rPr>
              <a:t>NGUỒN  CPU/RAM/temp/interface đều thuộc Ubuntu VM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5A995"/>
          </a:solidFill>
          <a:ln w="10160">
            <a:solidFill>
              <a:srgbClr val="15A9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85216" y="228600"/>
            <a:ext cx="8046720" cy="347472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87C71"/>
                </a:solidFill>
                <a:latin typeface="Aptos"/>
              </a:rPr>
              <a:t>QTMNC  /  CHỈ SỐ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72" y="621792"/>
            <a:ext cx="10058400" cy="603504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4243A"/>
                </a:solidFill>
                <a:latin typeface="Aptos"/>
              </a:rPr>
              <a:t>Cách hệ thống tính CPU và RAM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835640" y="603504"/>
            <a:ext cx="768096" cy="502920"/>
          </a:xfrm>
          <a:prstGeom prst="roundRect">
            <a:avLst/>
          </a:prstGeom>
          <a:solidFill>
            <a:srgbClr val="14243A"/>
          </a:solidFill>
          <a:ln w="10160">
            <a:solidFill>
              <a:srgbClr val="14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63072" y="640080"/>
            <a:ext cx="713232" cy="420624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ptos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353312"/>
            <a:ext cx="11009376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FE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417320"/>
            <a:ext cx="10680192" cy="621792"/>
          </a:xfrm>
          <a:prstGeom prst="rect">
            <a:avLst/>
          </a:prstGeom>
          <a:noFill/>
        </p:spPr>
        <p:txBody>
          <a:bodyPr wrap="square" anchor="ctr" lIns="36576" rIns="36576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THÔNG ĐIỆP  ·  Giá trị được chuẩn hóa thành phần trăm từ bộ đếm Linux và lượng RAM còn dùng được.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221992"/>
            <a:ext cx="11009376" cy="621792"/>
          </a:xfrm>
          <a:prstGeom prst="roundRect">
            <a:avLst/>
          </a:prstGeom>
          <a:solidFill>
            <a:srgbClr val="EAF0FF"/>
          </a:solidFill>
          <a:ln w="10160">
            <a:solidFill>
              <a:srgbClr val="EA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2221992"/>
            <a:ext cx="73152" cy="621792"/>
          </a:xfrm>
          <a:prstGeom prst="rect">
            <a:avLst/>
          </a:prstGeom>
          <a:solidFill>
            <a:srgbClr val="4C78E8"/>
          </a:solidFill>
          <a:ln w="10160">
            <a:solidFill>
              <a:srgbClr val="4C7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2258568"/>
            <a:ext cx="10698480" cy="539496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01  CPU: 100 × (1 − idle delta / total delta); đọc cách nhau khoảng 1 giây.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935224"/>
            <a:ext cx="11009376" cy="621792"/>
          </a:xfrm>
          <a:prstGeom prst="roundRect">
            <a:avLst/>
          </a:prstGeom>
          <a:solidFill>
            <a:srgbClr val="FFF3DF"/>
          </a:solidFill>
          <a:ln w="10160">
            <a:solidFill>
              <a:srgbClr val="FF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" y="2935224"/>
            <a:ext cx="73152" cy="621792"/>
          </a:xfrm>
          <a:prstGeom prst="rect">
            <a:avLst/>
          </a:prstGeom>
          <a:solidFill>
            <a:srgbClr val="E7A23B"/>
          </a:solidFill>
          <a:ln w="10160">
            <a:solidFill>
              <a:srgbClr val="E7A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2971800"/>
            <a:ext cx="10698480" cy="539496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4243A"/>
                </a:solidFill>
                <a:latin typeface="Aptos"/>
              </a:rPr>
              <a:t>02  RAM: 100 × (MemTotal − MemAvailable) / MemTotal.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648456"/>
            <a:ext cx="11009376" cy="621792"/>
          </a:xfrm>
          <a:prstGeom prst="roundRect">
            <a:avLst/>
          </a:prstGeom>
          <a:solidFill>
            <a:srgbClr val="E7F6F3"/>
          </a:solidFill>
          <a:ln w="10160">
            <a:solidFill>
              <a:srgbClr val="E7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648456"/>
            <a:ext cx="73152" cy="621792"/>
          </a:xfrm>
          <a:prstGeom prst="rect">
            <a:avLst/>
          </a:prstGeom>
          <a:solidFill>
            <a:srgbClr val="15A995"/>
          </a:solidFill>
          <a:ln w="10160">
            <a:solidFill>
              <a:srgbClr val="15A9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3685032"/>
            <a:ext cx="10698480" cy="539496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4243A"/>
                </a:solidFill>
                <a:latin typeface="Aptos"/>
              </a:rPr>
              <a:t>03  Diễn giải: 4 GB cấp cho VM, còn 1 GB khả dụng → RAM dùng xấp xỉ 75%.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4462272"/>
            <a:ext cx="11009376" cy="15727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FE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517136"/>
            <a:ext cx="10607040" cy="301752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87C71"/>
                </a:solidFill>
                <a:latin typeface="Aptos"/>
              </a:rPr>
              <a:t>GỢI Ý TRỰC QUAN  ·  HAI CÔNG THỨC VÀ VÍ DỤ ĐỊNH LƯỢNG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4983" y="4892040"/>
            <a:ext cx="4924044" cy="1005840"/>
          </a:xfrm>
          <a:prstGeom prst="roundRect">
            <a:avLst/>
          </a:prstGeom>
          <a:solidFill>
            <a:srgbClr val="EAF0FF"/>
          </a:solidFill>
          <a:ln w="10160">
            <a:solidFill>
              <a:srgbClr val="4C7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8136" y="4965192"/>
            <a:ext cx="4777740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CPU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" y="5376672"/>
            <a:ext cx="4777740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07086"/>
                </a:solidFill>
                <a:latin typeface="Aptos"/>
              </a:rPr>
              <a:t>100 × (1 − idle Δ / total Δ)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975603" y="5394959"/>
            <a:ext cx="246888" cy="0"/>
          </a:xfrm>
          <a:prstGeom prst="line">
            <a:avLst/>
          </a:prstGeom>
          <a:ln w="27940">
            <a:solidFill>
              <a:srgbClr val="4C7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259067" y="4892040"/>
            <a:ext cx="4924044" cy="1005840"/>
          </a:xfrm>
          <a:prstGeom prst="roundRect">
            <a:avLst/>
          </a:prstGeom>
          <a:solidFill>
            <a:srgbClr val="FFF3DF"/>
          </a:solidFill>
          <a:ln w="10160">
            <a:solidFill>
              <a:srgbClr val="E7A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32219" y="4965192"/>
            <a:ext cx="4777740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RAM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32219" y="5376672"/>
            <a:ext cx="4777740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07086"/>
                </a:solidFill>
                <a:latin typeface="Aptos"/>
              </a:rPr>
              <a:t>100 × (total − available) / total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6163056"/>
            <a:ext cx="11009376" cy="484632"/>
          </a:xfrm>
          <a:prstGeom prst="roundRect">
            <a:avLst/>
          </a:prstGeom>
          <a:solidFill>
            <a:srgbClr val="14243A"/>
          </a:solidFill>
          <a:ln w="10160">
            <a:solidFill>
              <a:srgbClr val="14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6190488"/>
            <a:ext cx="10680192" cy="420624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ptos"/>
              </a:rPr>
              <a:t>VÍ DỤ  3/4 GB sử dụng = 75% RAM Ubuntu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5A995"/>
          </a:solidFill>
          <a:ln w="10160">
            <a:solidFill>
              <a:srgbClr val="15A9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85216" y="228600"/>
            <a:ext cx="8046720" cy="347472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87C71"/>
                </a:solidFill>
                <a:latin typeface="Aptos"/>
              </a:rPr>
              <a:t>QTMNC  /  CHỈ SỐ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72" y="621792"/>
            <a:ext cx="10058400" cy="603504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4243A"/>
                </a:solidFill>
                <a:latin typeface="Aptos"/>
              </a:rPr>
              <a:t>Nhiệt độ và tính toàn vẹn số liệu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835640" y="603504"/>
            <a:ext cx="768096" cy="502920"/>
          </a:xfrm>
          <a:prstGeom prst="roundRect">
            <a:avLst/>
          </a:prstGeom>
          <a:solidFill>
            <a:srgbClr val="14243A"/>
          </a:solidFill>
          <a:ln w="10160">
            <a:solidFill>
              <a:srgbClr val="14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63072" y="640080"/>
            <a:ext cx="713232" cy="420624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ptos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353312"/>
            <a:ext cx="11009376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FE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417320"/>
            <a:ext cx="10680192" cy="621792"/>
          </a:xfrm>
          <a:prstGeom prst="rect">
            <a:avLst/>
          </a:prstGeom>
          <a:noFill/>
        </p:spPr>
        <p:txBody>
          <a:bodyPr wrap="square" anchor="ctr" lIns="36576" rIns="36576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THÔNG ĐIỆP  ·  Không có cảm biến phải được báo UNKNOWN hoặc bỏ theo cấu hình, không đổi thành nhiệt độ 0°C.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221992"/>
            <a:ext cx="11009376" cy="621792"/>
          </a:xfrm>
          <a:prstGeom prst="roundRect">
            <a:avLst/>
          </a:prstGeom>
          <a:solidFill>
            <a:srgbClr val="EAF0FF"/>
          </a:solidFill>
          <a:ln w="10160">
            <a:solidFill>
              <a:srgbClr val="EA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2221992"/>
            <a:ext cx="73152" cy="621792"/>
          </a:xfrm>
          <a:prstGeom prst="rect">
            <a:avLst/>
          </a:prstGeom>
          <a:solidFill>
            <a:srgbClr val="4C78E8"/>
          </a:solidFill>
          <a:ln w="10160">
            <a:solidFill>
              <a:srgbClr val="4C7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2258568"/>
            <a:ext cx="10698480" cy="539496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01  Auto: Đọc cảm biến CPU đã nhận diện trong /sys/hwmon hoặc thermal.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935224"/>
            <a:ext cx="11009376" cy="621792"/>
          </a:xfrm>
          <a:prstGeom prst="roundRect">
            <a:avLst/>
          </a:prstGeom>
          <a:solidFill>
            <a:srgbClr val="FFF3DF"/>
          </a:solidFill>
          <a:ln w="10160">
            <a:solidFill>
              <a:srgbClr val="FF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" y="2935224"/>
            <a:ext cx="73152" cy="621792"/>
          </a:xfrm>
          <a:prstGeom prst="rect">
            <a:avLst/>
          </a:prstGeom>
          <a:solidFill>
            <a:srgbClr val="E7A23B"/>
          </a:solidFill>
          <a:ln w="10160">
            <a:solidFill>
              <a:srgbClr val="E7A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2971800"/>
            <a:ext cx="10698480" cy="539496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4243A"/>
                </a:solidFill>
                <a:latin typeface="Aptos"/>
              </a:rPr>
              <a:t>02  UNKNOWN: Máy ảo thường không lộ cảm biến vật lý; ghi nhận thiếu dữ liệu.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648456"/>
            <a:ext cx="11009376" cy="621792"/>
          </a:xfrm>
          <a:prstGeom prst="roundRect">
            <a:avLst/>
          </a:prstGeom>
          <a:solidFill>
            <a:srgbClr val="E7F6F3"/>
          </a:solidFill>
          <a:ln w="10160">
            <a:solidFill>
              <a:srgbClr val="E7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648456"/>
            <a:ext cx="73152" cy="621792"/>
          </a:xfrm>
          <a:prstGeom prst="rect">
            <a:avLst/>
          </a:prstGeom>
          <a:solidFill>
            <a:srgbClr val="15A995"/>
          </a:solidFill>
          <a:ln w="10160">
            <a:solidFill>
              <a:srgbClr val="15A9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3685032"/>
            <a:ext cx="10698480" cy="539496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4243A"/>
                </a:solidFill>
                <a:latin typeface="Aptos"/>
              </a:rPr>
              <a:t>03  Demo: Đọc mẫu có hạn dùng; mọi số đo/cảnh báo phải gắn nhãn MÔ PHỎNG.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4462272"/>
            <a:ext cx="11009376" cy="15727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FE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517136"/>
            <a:ext cx="10607040" cy="301752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87C71"/>
                </a:solidFill>
                <a:latin typeface="Aptos"/>
              </a:rPr>
              <a:t>GỢI Ý TRỰC QUAN  ·  BA NHÁNH AUTO – THIẾU SENSOR – DEMO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4983" y="4892040"/>
            <a:ext cx="3176016" cy="1005840"/>
          </a:xfrm>
          <a:prstGeom prst="roundRect">
            <a:avLst/>
          </a:prstGeom>
          <a:solidFill>
            <a:srgbClr val="EAF0FF"/>
          </a:solidFill>
          <a:ln w="10160">
            <a:solidFill>
              <a:srgbClr val="4C7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8136" y="4965192"/>
            <a:ext cx="3029711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AUTO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" y="5376672"/>
            <a:ext cx="3029711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07086"/>
                </a:solidFill>
                <a:latin typeface="Aptos"/>
              </a:rPr>
              <a:t>ĐỌC CẢM BIẾN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227576" y="5394959"/>
            <a:ext cx="246887" cy="0"/>
          </a:xfrm>
          <a:prstGeom prst="line">
            <a:avLst/>
          </a:prstGeom>
          <a:ln w="27940">
            <a:solidFill>
              <a:srgbClr val="4C7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511040" y="4892040"/>
            <a:ext cx="3176016" cy="1005840"/>
          </a:xfrm>
          <a:prstGeom prst="roundRect">
            <a:avLst/>
          </a:prstGeom>
          <a:solidFill>
            <a:srgbClr val="FFF3DF"/>
          </a:solidFill>
          <a:ln w="10160">
            <a:solidFill>
              <a:srgbClr val="E7A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84192" y="4965192"/>
            <a:ext cx="3029711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UNKNOWN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84192" y="5376672"/>
            <a:ext cx="3029711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07086"/>
                </a:solidFill>
                <a:latin typeface="Aptos"/>
              </a:rPr>
              <a:t>THIẾU SENSOR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723631" y="5394959"/>
            <a:ext cx="246889" cy="0"/>
          </a:xfrm>
          <a:prstGeom prst="line">
            <a:avLst/>
          </a:prstGeom>
          <a:ln w="27940">
            <a:solidFill>
              <a:srgbClr val="E7A2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007095" y="4892040"/>
            <a:ext cx="3176016" cy="1005840"/>
          </a:xfrm>
          <a:prstGeom prst="roundRect">
            <a:avLst/>
          </a:prstGeom>
          <a:solidFill>
            <a:srgbClr val="E5F3EC"/>
          </a:solidFill>
          <a:ln w="10160">
            <a:solidFill>
              <a:srgbClr val="268D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80247" y="4965192"/>
            <a:ext cx="3029711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DEMO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80247" y="5376672"/>
            <a:ext cx="3029711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07086"/>
                </a:solidFill>
                <a:latin typeface="Aptos"/>
              </a:rPr>
              <a:t>NHÃN MÔ PHỎNG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4360" y="6163056"/>
            <a:ext cx="11009376" cy="484632"/>
          </a:xfrm>
          <a:prstGeom prst="roundRect">
            <a:avLst/>
          </a:prstGeom>
          <a:solidFill>
            <a:srgbClr val="14243A"/>
          </a:solidFill>
          <a:ln w="10160">
            <a:solidFill>
              <a:srgbClr val="14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6190488"/>
            <a:ext cx="10680192" cy="420624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ptos"/>
              </a:rPr>
              <a:t>PROFILE  MONITOR_TEMP_ENABLED · TEMP_SOURCE=auto/demo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5A995"/>
          </a:solidFill>
          <a:ln w="10160">
            <a:solidFill>
              <a:srgbClr val="15A9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85216" y="228600"/>
            <a:ext cx="8046720" cy="347472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87C71"/>
                </a:solidFill>
                <a:latin typeface="Aptos"/>
              </a:rPr>
              <a:t>QTMNC  /  VẬN HÀNH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72" y="621792"/>
            <a:ext cx="10058400" cy="603504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4243A"/>
                </a:solidFill>
                <a:latin typeface="Aptos"/>
              </a:rPr>
              <a:t>Chu kỳ thu thập và độ trễ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835640" y="603504"/>
            <a:ext cx="768096" cy="502920"/>
          </a:xfrm>
          <a:prstGeom prst="roundRect">
            <a:avLst/>
          </a:prstGeom>
          <a:solidFill>
            <a:srgbClr val="14243A"/>
          </a:solidFill>
          <a:ln w="10160">
            <a:solidFill>
              <a:srgbClr val="14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63072" y="640080"/>
            <a:ext cx="713232" cy="420624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ptos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353312"/>
            <a:ext cx="11009376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FE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417320"/>
            <a:ext cx="10680192" cy="621792"/>
          </a:xfrm>
          <a:prstGeom prst="rect">
            <a:avLst/>
          </a:prstGeom>
          <a:noFill/>
        </p:spPr>
        <p:txBody>
          <a:bodyPr wrap="square" anchor="ctr" lIns="36576" rIns="36576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THÔNG ĐIỆP  ·  Polling 5 giây là gần thời gian thực; phát hiện và giao tin vẫn chịu độ trễ đo, mạng và API.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221992"/>
            <a:ext cx="11009376" cy="621792"/>
          </a:xfrm>
          <a:prstGeom prst="roundRect">
            <a:avLst/>
          </a:prstGeom>
          <a:solidFill>
            <a:srgbClr val="EAF0FF"/>
          </a:solidFill>
          <a:ln w="10160">
            <a:solidFill>
              <a:srgbClr val="EA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2221992"/>
            <a:ext cx="73152" cy="621792"/>
          </a:xfrm>
          <a:prstGeom prst="rect">
            <a:avLst/>
          </a:prstGeom>
          <a:solidFill>
            <a:srgbClr val="4C78E8"/>
          </a:solidFill>
          <a:ln w="10160">
            <a:solidFill>
              <a:srgbClr val="4C7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2258568"/>
            <a:ext cx="10698480" cy="539496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01  Lấy mẫu: Kết nối, đọc chỉ số, đánh giá và cập nhật bảng mỗi vòng.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935224"/>
            <a:ext cx="11009376" cy="621792"/>
          </a:xfrm>
          <a:prstGeom prst="roundRect">
            <a:avLst/>
          </a:prstGeom>
          <a:solidFill>
            <a:srgbClr val="FFF3DF"/>
          </a:solidFill>
          <a:ln w="10160">
            <a:solidFill>
              <a:srgbClr val="FF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" y="2935224"/>
            <a:ext cx="73152" cy="621792"/>
          </a:xfrm>
          <a:prstGeom prst="rect">
            <a:avLst/>
          </a:prstGeom>
          <a:solidFill>
            <a:srgbClr val="E7A23B"/>
          </a:solidFill>
          <a:ln w="10160">
            <a:solidFill>
              <a:srgbClr val="E7A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2971800"/>
            <a:ext cx="10698480" cy="539496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4243A"/>
                </a:solidFill>
                <a:latin typeface="Aptos"/>
              </a:rPr>
              <a:t>02  Chu kỳ: Profile đơn giản chờ 5 giây sau lượt đọc; CPU cần mẫu ~1 giây.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648456"/>
            <a:ext cx="11009376" cy="621792"/>
          </a:xfrm>
          <a:prstGeom prst="roundRect">
            <a:avLst/>
          </a:prstGeom>
          <a:solidFill>
            <a:srgbClr val="E7F6F3"/>
          </a:solidFill>
          <a:ln w="10160">
            <a:solidFill>
              <a:srgbClr val="E7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648456"/>
            <a:ext cx="73152" cy="621792"/>
          </a:xfrm>
          <a:prstGeom prst="rect">
            <a:avLst/>
          </a:prstGeom>
          <a:solidFill>
            <a:srgbClr val="15A995"/>
          </a:solidFill>
          <a:ln w="10160">
            <a:solidFill>
              <a:srgbClr val="15A9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3685032"/>
            <a:ext cx="10698480" cy="539496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4243A"/>
                </a:solidFill>
                <a:latin typeface="Aptos"/>
              </a:rPr>
              <a:t>03  Độ trễ: Sự cố chờ lượt kế tiếp; timeout/retry/API làm tin tới muộn.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4462272"/>
            <a:ext cx="11009376" cy="15727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FE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517136"/>
            <a:ext cx="10607040" cy="301752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87C71"/>
                </a:solidFill>
                <a:latin typeface="Aptos"/>
              </a:rPr>
              <a:t>GỢI Ý TRỰC QUAN  ·  TIMELINE 6 BƯỚC TRONG VÒNG ĐO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4983" y="4892040"/>
            <a:ext cx="2370582" cy="1005840"/>
          </a:xfrm>
          <a:prstGeom prst="roundRect">
            <a:avLst/>
          </a:prstGeom>
          <a:solidFill>
            <a:srgbClr val="EAF0FF"/>
          </a:solidFill>
          <a:ln w="10160">
            <a:solidFill>
              <a:srgbClr val="4C7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8136" y="4965192"/>
            <a:ext cx="2224277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CONNECT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" y="5376672"/>
            <a:ext cx="2224277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07086"/>
                </a:solidFill>
                <a:latin typeface="Aptos"/>
              </a:rPr>
              <a:t>KẾT NỐI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422141" y="5394959"/>
            <a:ext cx="155448" cy="0"/>
          </a:xfrm>
          <a:prstGeom prst="line">
            <a:avLst/>
          </a:prstGeom>
          <a:ln w="27940">
            <a:solidFill>
              <a:srgbClr val="4C7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3614165" y="4892040"/>
            <a:ext cx="2370582" cy="1005840"/>
          </a:xfrm>
          <a:prstGeom prst="roundRect">
            <a:avLst/>
          </a:prstGeom>
          <a:solidFill>
            <a:srgbClr val="FFF3DF"/>
          </a:solidFill>
          <a:ln w="10160">
            <a:solidFill>
              <a:srgbClr val="E7A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87318" y="4965192"/>
            <a:ext cx="2224277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READ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87318" y="5376672"/>
            <a:ext cx="2224277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07086"/>
                </a:solidFill>
                <a:latin typeface="Aptos"/>
              </a:rPr>
              <a:t>THU THẬP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021324" y="5394959"/>
            <a:ext cx="155448" cy="0"/>
          </a:xfrm>
          <a:prstGeom prst="line">
            <a:avLst/>
          </a:prstGeom>
          <a:ln w="27940">
            <a:solidFill>
              <a:srgbClr val="E7A2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213348" y="4892040"/>
            <a:ext cx="2370582" cy="1005840"/>
          </a:xfrm>
          <a:prstGeom prst="roundRect">
            <a:avLst/>
          </a:prstGeom>
          <a:solidFill>
            <a:srgbClr val="E5F3EC"/>
          </a:solidFill>
          <a:ln w="10160">
            <a:solidFill>
              <a:srgbClr val="268D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86500" y="4965192"/>
            <a:ext cx="2224277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EVALUATE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6500" y="5376672"/>
            <a:ext cx="2224277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07086"/>
                </a:solidFill>
                <a:latin typeface="Aptos"/>
              </a:rPr>
              <a:t>ĐÁNH GIÁ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620505" y="5394959"/>
            <a:ext cx="155449" cy="0"/>
          </a:xfrm>
          <a:prstGeom prst="line">
            <a:avLst/>
          </a:prstGeom>
          <a:ln w="27940">
            <a:solidFill>
              <a:srgbClr val="268D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812530" y="4892040"/>
            <a:ext cx="2370582" cy="1005840"/>
          </a:xfrm>
          <a:prstGeom prst="roundRect">
            <a:avLst/>
          </a:prstGeom>
          <a:solidFill>
            <a:srgbClr val="E7F6F3"/>
          </a:solidFill>
          <a:ln w="10160">
            <a:solidFill>
              <a:srgbClr val="15A9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85682" y="4965192"/>
            <a:ext cx="2224277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NOTIFY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85682" y="5376672"/>
            <a:ext cx="2224277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07086"/>
                </a:solidFill>
                <a:latin typeface="Aptos"/>
              </a:rPr>
              <a:t>GỬI TIN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6163056"/>
            <a:ext cx="11009376" cy="484632"/>
          </a:xfrm>
          <a:prstGeom prst="roundRect">
            <a:avLst/>
          </a:prstGeom>
          <a:solidFill>
            <a:srgbClr val="14243A"/>
          </a:solidFill>
          <a:ln w="10160">
            <a:solidFill>
              <a:srgbClr val="14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9808" y="6190488"/>
            <a:ext cx="10680192" cy="420624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ptos"/>
              </a:rPr>
              <a:t>5 GIÂY  Không phải cam kết mọi cảnh báo đến trong đúng 5 giây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5A995"/>
          </a:solidFill>
          <a:ln w="10160">
            <a:solidFill>
              <a:srgbClr val="15A9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85216" y="228600"/>
            <a:ext cx="8046720" cy="347472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87C71"/>
                </a:solidFill>
                <a:latin typeface="Aptos"/>
              </a:rPr>
              <a:t>QTMNC  /  CẢNH BÁO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72" y="621792"/>
            <a:ext cx="10058400" cy="603504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4243A"/>
                </a:solidFill>
                <a:latin typeface="Aptos"/>
              </a:rPr>
              <a:t>Ngưỡng cảnh báo và phục hồi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835640" y="603504"/>
            <a:ext cx="768096" cy="502920"/>
          </a:xfrm>
          <a:prstGeom prst="roundRect">
            <a:avLst/>
          </a:prstGeom>
          <a:solidFill>
            <a:srgbClr val="14243A"/>
          </a:solidFill>
          <a:ln w="10160">
            <a:solidFill>
              <a:srgbClr val="14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63072" y="640080"/>
            <a:ext cx="713232" cy="420624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ptos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353312"/>
            <a:ext cx="11009376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FE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417320"/>
            <a:ext cx="10680192" cy="621792"/>
          </a:xfrm>
          <a:prstGeom prst="rect">
            <a:avLst/>
          </a:prstGeom>
          <a:noFill/>
        </p:spPr>
        <p:txBody>
          <a:bodyPr wrap="square" anchor="ctr" lIns="36576" rIns="36576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THÔNG ĐIỆP  ·  Ngưỡng phục hồi có khoảng đệm 5 điểm để giảm đổi trạng thái liên tục.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221992"/>
            <a:ext cx="11009376" cy="621792"/>
          </a:xfrm>
          <a:prstGeom prst="roundRect">
            <a:avLst/>
          </a:prstGeom>
          <a:solidFill>
            <a:srgbClr val="EAF0FF"/>
          </a:solidFill>
          <a:ln w="10160">
            <a:solidFill>
              <a:srgbClr val="EA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2221992"/>
            <a:ext cx="73152" cy="621792"/>
          </a:xfrm>
          <a:prstGeom prst="rect">
            <a:avLst/>
          </a:prstGeom>
          <a:solidFill>
            <a:srgbClr val="4C78E8"/>
          </a:solidFill>
          <a:ln w="10160">
            <a:solidFill>
              <a:srgbClr val="4C7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2258568"/>
            <a:ext cx="10698480" cy="539496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01  CPU: Cảnh báo &gt;75%; sau đó phục hồi khi ≤70%.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935224"/>
            <a:ext cx="11009376" cy="621792"/>
          </a:xfrm>
          <a:prstGeom prst="roundRect">
            <a:avLst/>
          </a:prstGeom>
          <a:solidFill>
            <a:srgbClr val="FFF3DF"/>
          </a:solidFill>
          <a:ln w="10160">
            <a:solidFill>
              <a:srgbClr val="FF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" y="2935224"/>
            <a:ext cx="73152" cy="621792"/>
          </a:xfrm>
          <a:prstGeom prst="rect">
            <a:avLst/>
          </a:prstGeom>
          <a:solidFill>
            <a:srgbClr val="E7A23B"/>
          </a:solidFill>
          <a:ln w="10160">
            <a:solidFill>
              <a:srgbClr val="E7A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2971800"/>
            <a:ext cx="10698480" cy="539496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4243A"/>
                </a:solidFill>
                <a:latin typeface="Aptos"/>
              </a:rPr>
              <a:t>02  RAM: Cảnh báo &gt;65%; sau đó phục hồi khi ≤60%.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648456"/>
            <a:ext cx="11009376" cy="621792"/>
          </a:xfrm>
          <a:prstGeom prst="roundRect">
            <a:avLst/>
          </a:prstGeom>
          <a:solidFill>
            <a:srgbClr val="E7F6F3"/>
          </a:solidFill>
          <a:ln w="10160">
            <a:solidFill>
              <a:srgbClr val="E7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648456"/>
            <a:ext cx="73152" cy="621792"/>
          </a:xfrm>
          <a:prstGeom prst="rect">
            <a:avLst/>
          </a:prstGeom>
          <a:solidFill>
            <a:srgbClr val="15A995"/>
          </a:solidFill>
          <a:ln w="10160">
            <a:solidFill>
              <a:srgbClr val="15A9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3685032"/>
            <a:ext cx="10698480" cy="539496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4243A"/>
                </a:solidFill>
                <a:latin typeface="Aptos"/>
              </a:rPr>
              <a:t>03  Nhiệt độ: Cảnh báo &gt;65°C; sau đó phục hồi khi ≤60°C.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4462272"/>
            <a:ext cx="11009376" cy="15727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FE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517136"/>
            <a:ext cx="10607040" cy="301752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87C71"/>
                </a:solidFill>
                <a:latin typeface="Aptos"/>
              </a:rPr>
              <a:t>GỢI Ý TRỰC QUAN  ·  THANH NGƯỠNG 4 METRIC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4983" y="4892040"/>
            <a:ext cx="2370582" cy="1005840"/>
          </a:xfrm>
          <a:prstGeom prst="roundRect">
            <a:avLst/>
          </a:prstGeom>
          <a:solidFill>
            <a:srgbClr val="EAF0FF"/>
          </a:solidFill>
          <a:ln w="10160">
            <a:solidFill>
              <a:srgbClr val="4C7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8136" y="4965192"/>
            <a:ext cx="2224277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CPU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" y="5376672"/>
            <a:ext cx="2224277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07086"/>
                </a:solidFill>
                <a:latin typeface="Aptos"/>
              </a:rPr>
              <a:t>&gt; 75%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422141" y="5394959"/>
            <a:ext cx="155448" cy="0"/>
          </a:xfrm>
          <a:prstGeom prst="line">
            <a:avLst/>
          </a:prstGeom>
          <a:ln w="27940">
            <a:solidFill>
              <a:srgbClr val="4C7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3614165" y="4892040"/>
            <a:ext cx="2370582" cy="1005840"/>
          </a:xfrm>
          <a:prstGeom prst="roundRect">
            <a:avLst/>
          </a:prstGeom>
          <a:solidFill>
            <a:srgbClr val="FFF3DF"/>
          </a:solidFill>
          <a:ln w="10160">
            <a:solidFill>
              <a:srgbClr val="E7A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87318" y="4965192"/>
            <a:ext cx="2224277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RAM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87318" y="5376672"/>
            <a:ext cx="2224277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07086"/>
                </a:solidFill>
                <a:latin typeface="Aptos"/>
              </a:rPr>
              <a:t>&gt; 65%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021324" y="5394959"/>
            <a:ext cx="155448" cy="0"/>
          </a:xfrm>
          <a:prstGeom prst="line">
            <a:avLst/>
          </a:prstGeom>
          <a:ln w="27940">
            <a:solidFill>
              <a:srgbClr val="E7A2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213348" y="4892040"/>
            <a:ext cx="2370582" cy="1005840"/>
          </a:xfrm>
          <a:prstGeom prst="roundRect">
            <a:avLst/>
          </a:prstGeom>
          <a:solidFill>
            <a:srgbClr val="E5F3EC"/>
          </a:solidFill>
          <a:ln w="10160">
            <a:solidFill>
              <a:srgbClr val="268D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86500" y="4965192"/>
            <a:ext cx="2224277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TEMP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6500" y="5376672"/>
            <a:ext cx="2224277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07086"/>
                </a:solidFill>
                <a:latin typeface="Aptos"/>
              </a:rPr>
              <a:t>&gt; 65°C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620505" y="5394959"/>
            <a:ext cx="155449" cy="0"/>
          </a:xfrm>
          <a:prstGeom prst="line">
            <a:avLst/>
          </a:prstGeom>
          <a:ln w="27940">
            <a:solidFill>
              <a:srgbClr val="268D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812530" y="4892040"/>
            <a:ext cx="2370582" cy="1005840"/>
          </a:xfrm>
          <a:prstGeom prst="roundRect">
            <a:avLst/>
          </a:prstGeom>
          <a:solidFill>
            <a:srgbClr val="E7F6F3"/>
          </a:solidFill>
          <a:ln w="10160">
            <a:solidFill>
              <a:srgbClr val="15A9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85682" y="4965192"/>
            <a:ext cx="2224277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IFACE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85682" y="5376672"/>
            <a:ext cx="2224277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07086"/>
                </a:solidFill>
                <a:latin typeface="Aptos"/>
              </a:rPr>
              <a:t>DOWN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6163056"/>
            <a:ext cx="11009376" cy="484632"/>
          </a:xfrm>
          <a:prstGeom prst="roundRect">
            <a:avLst/>
          </a:prstGeom>
          <a:solidFill>
            <a:srgbClr val="14243A"/>
          </a:solidFill>
          <a:ln w="10160">
            <a:solidFill>
              <a:srgbClr val="14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9808" y="6190488"/>
            <a:ext cx="10680192" cy="420624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ptos"/>
              </a:rPr>
              <a:t>HYSTERESIS  RECOVERY_MARGIN=5; interface DOWN→ALERT, UP→OK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5A995"/>
          </a:solidFill>
          <a:ln w="10160">
            <a:solidFill>
              <a:srgbClr val="15A9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85216" y="228600"/>
            <a:ext cx="8046720" cy="347472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87C71"/>
                </a:solidFill>
                <a:latin typeface="Aptos"/>
              </a:rPr>
              <a:t>QTMNC  /  CẢNH BÁO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72" y="621792"/>
            <a:ext cx="10058400" cy="603504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4243A"/>
                </a:solidFill>
                <a:latin typeface="Aptos"/>
              </a:rPr>
              <a:t>Máy trạng thái và hysteresis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835640" y="603504"/>
            <a:ext cx="768096" cy="502920"/>
          </a:xfrm>
          <a:prstGeom prst="roundRect">
            <a:avLst/>
          </a:prstGeom>
          <a:solidFill>
            <a:srgbClr val="14243A"/>
          </a:solidFill>
          <a:ln w="10160">
            <a:solidFill>
              <a:srgbClr val="14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63072" y="640080"/>
            <a:ext cx="713232" cy="420624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ptos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353312"/>
            <a:ext cx="11009376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FE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417320"/>
            <a:ext cx="10680192" cy="621792"/>
          </a:xfrm>
          <a:prstGeom prst="rect">
            <a:avLst/>
          </a:prstGeom>
          <a:noFill/>
        </p:spPr>
        <p:txBody>
          <a:bodyPr wrap="square" anchor="ctr" lIns="36576" rIns="36576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THÔNG ĐIỆP  ·  Chỉ tạo tin khi trạng thái chuyển; UNKNOWN giữ trạng thái hợp lệ gần nhất để xử lý phục hồi đúng.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221992"/>
            <a:ext cx="11009376" cy="621792"/>
          </a:xfrm>
          <a:prstGeom prst="roundRect">
            <a:avLst/>
          </a:prstGeom>
          <a:solidFill>
            <a:srgbClr val="EAF0FF"/>
          </a:solidFill>
          <a:ln w="10160">
            <a:solidFill>
              <a:srgbClr val="EA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2221992"/>
            <a:ext cx="73152" cy="621792"/>
          </a:xfrm>
          <a:prstGeom prst="rect">
            <a:avLst/>
          </a:prstGeom>
          <a:solidFill>
            <a:srgbClr val="4C78E8"/>
          </a:solidFill>
          <a:ln w="10160">
            <a:solidFill>
              <a:srgbClr val="4C7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2258568"/>
            <a:ext cx="10698480" cy="539496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01  OK: Giá trị trong miền bình thường; không gửi lại mỗi vòng.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935224"/>
            <a:ext cx="11009376" cy="621792"/>
          </a:xfrm>
          <a:prstGeom prst="roundRect">
            <a:avLst/>
          </a:prstGeom>
          <a:solidFill>
            <a:srgbClr val="FFF3DF"/>
          </a:solidFill>
          <a:ln w="10160">
            <a:solidFill>
              <a:srgbClr val="FF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" y="2935224"/>
            <a:ext cx="73152" cy="621792"/>
          </a:xfrm>
          <a:prstGeom prst="rect">
            <a:avLst/>
          </a:prstGeom>
          <a:solidFill>
            <a:srgbClr val="E7A23B"/>
          </a:solidFill>
          <a:ln w="10160">
            <a:solidFill>
              <a:srgbClr val="E7A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2971800"/>
            <a:ext cx="10698480" cy="539496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4243A"/>
                </a:solidFill>
                <a:latin typeface="Aptos"/>
              </a:rPr>
              <a:t>02  ALERT: Vượt ngưỡng; giữ cảnh báo tới khi đạt ngưỡng phục hồi.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648456"/>
            <a:ext cx="11009376" cy="621792"/>
          </a:xfrm>
          <a:prstGeom prst="roundRect">
            <a:avLst/>
          </a:prstGeom>
          <a:solidFill>
            <a:srgbClr val="E7F6F3"/>
          </a:solidFill>
          <a:ln w="10160">
            <a:solidFill>
              <a:srgbClr val="E7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648456"/>
            <a:ext cx="73152" cy="621792"/>
          </a:xfrm>
          <a:prstGeom prst="rect">
            <a:avLst/>
          </a:prstGeom>
          <a:solidFill>
            <a:srgbClr val="15A995"/>
          </a:solidFill>
          <a:ln w="10160">
            <a:solidFill>
              <a:srgbClr val="15A9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3685032"/>
            <a:ext cx="10698480" cy="539496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4243A"/>
                </a:solidFill>
                <a:latin typeface="Aptos"/>
              </a:rPr>
              <a:t>03  UNKNOWN: Thiếu dữ liệu; không suy diễn là bình thường hoặc bằng 0.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4462272"/>
            <a:ext cx="11009376" cy="15727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FE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517136"/>
            <a:ext cx="10607040" cy="301752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87C71"/>
                </a:solidFill>
                <a:latin typeface="Aptos"/>
              </a:rPr>
              <a:t>GỢI Ý TRỰC QUAN  ·  DÒNG TRẠNG THÁI RAM VỚI HYSTERESIS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4983" y="4892040"/>
            <a:ext cx="3176016" cy="1005840"/>
          </a:xfrm>
          <a:prstGeom prst="roundRect">
            <a:avLst/>
          </a:prstGeom>
          <a:solidFill>
            <a:srgbClr val="EAF0FF"/>
          </a:solidFill>
          <a:ln w="10160">
            <a:solidFill>
              <a:srgbClr val="4C7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8136" y="4965192"/>
            <a:ext cx="3029711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" y="5376672"/>
            <a:ext cx="3029711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07086"/>
                </a:solidFill>
                <a:latin typeface="Aptos"/>
              </a:rPr>
              <a:t>BÌNH THƯỜNG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227576" y="5394959"/>
            <a:ext cx="246887" cy="0"/>
          </a:xfrm>
          <a:prstGeom prst="line">
            <a:avLst/>
          </a:prstGeom>
          <a:ln w="27940">
            <a:solidFill>
              <a:srgbClr val="4C7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511040" y="4892040"/>
            <a:ext cx="3176016" cy="1005840"/>
          </a:xfrm>
          <a:prstGeom prst="roundRect">
            <a:avLst/>
          </a:prstGeom>
          <a:solidFill>
            <a:srgbClr val="FFF3DF"/>
          </a:solidFill>
          <a:ln w="10160">
            <a:solidFill>
              <a:srgbClr val="E7A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84192" y="4965192"/>
            <a:ext cx="3029711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ALERT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84192" y="5376672"/>
            <a:ext cx="3029711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07086"/>
                </a:solidFill>
                <a:latin typeface="Aptos"/>
              </a:rPr>
              <a:t>VƯỢT NGƯỠNG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723631" y="5394959"/>
            <a:ext cx="246889" cy="0"/>
          </a:xfrm>
          <a:prstGeom prst="line">
            <a:avLst/>
          </a:prstGeom>
          <a:ln w="27940">
            <a:solidFill>
              <a:srgbClr val="E7A2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007095" y="4892040"/>
            <a:ext cx="3176016" cy="1005840"/>
          </a:xfrm>
          <a:prstGeom prst="roundRect">
            <a:avLst/>
          </a:prstGeom>
          <a:solidFill>
            <a:srgbClr val="E5F3EC"/>
          </a:solidFill>
          <a:ln w="10160">
            <a:solidFill>
              <a:srgbClr val="268D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80247" y="4965192"/>
            <a:ext cx="3029711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RECOVERY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80247" y="5376672"/>
            <a:ext cx="3029711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07086"/>
                </a:solidFill>
                <a:latin typeface="Aptos"/>
              </a:rPr>
              <a:t>ĐÃ PHỤC HỒI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4360" y="6163056"/>
            <a:ext cx="11009376" cy="484632"/>
          </a:xfrm>
          <a:prstGeom prst="roundRect">
            <a:avLst/>
          </a:prstGeom>
          <a:solidFill>
            <a:srgbClr val="14243A"/>
          </a:solidFill>
          <a:ln w="10160">
            <a:solidFill>
              <a:srgbClr val="14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6190488"/>
            <a:ext cx="10680192" cy="420624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ptos"/>
              </a:rPr>
              <a:t>RAM  50 → 72 → 74 → 63 → 58: một cảnh báo, một tin phục hồi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5A995"/>
          </a:solidFill>
          <a:ln w="10160">
            <a:solidFill>
              <a:srgbClr val="15A9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85216" y="228600"/>
            <a:ext cx="8046720" cy="347472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87C71"/>
                </a:solidFill>
                <a:latin typeface="Aptos"/>
              </a:rPr>
              <a:t>QTMNC  /  CẢNH BÁO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72" y="621792"/>
            <a:ext cx="10058400" cy="603504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4243A"/>
                </a:solidFill>
                <a:latin typeface="Aptos"/>
              </a:rPr>
              <a:t>Phân biệt ba nhóm sự cố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835640" y="603504"/>
            <a:ext cx="768096" cy="502920"/>
          </a:xfrm>
          <a:prstGeom prst="roundRect">
            <a:avLst/>
          </a:prstGeom>
          <a:solidFill>
            <a:srgbClr val="14243A"/>
          </a:solidFill>
          <a:ln w="10160">
            <a:solidFill>
              <a:srgbClr val="14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63072" y="640080"/>
            <a:ext cx="713232" cy="420624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ptos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353312"/>
            <a:ext cx="11009376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FE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417320"/>
            <a:ext cx="10680192" cy="621792"/>
          </a:xfrm>
          <a:prstGeom prst="rect">
            <a:avLst/>
          </a:prstGeom>
          <a:noFill/>
        </p:spPr>
        <p:txBody>
          <a:bodyPr wrap="square" anchor="ctr" lIns="36576" rIns="36576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THÔNG ĐIỆP  ·  Ngắt interface đo, mất đường SSH và mất Internet gây ba kết quả vận hành khác nhau.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221992"/>
            <a:ext cx="11009376" cy="621792"/>
          </a:xfrm>
          <a:prstGeom prst="roundRect">
            <a:avLst/>
          </a:prstGeom>
          <a:solidFill>
            <a:srgbClr val="EAF0FF"/>
          </a:solidFill>
          <a:ln w="10160">
            <a:solidFill>
              <a:srgbClr val="EA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2221992"/>
            <a:ext cx="73152" cy="621792"/>
          </a:xfrm>
          <a:prstGeom prst="rect">
            <a:avLst/>
          </a:prstGeom>
          <a:solidFill>
            <a:srgbClr val="4C78E8"/>
          </a:solidFill>
          <a:ln w="10160">
            <a:solidFill>
              <a:srgbClr val="4C7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2258568"/>
            <a:ext cx="10698480" cy="539496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01  ens33 DOWN: SSH qua ens37 còn; đọc trạng thái interface và báo lỗi.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935224"/>
            <a:ext cx="11009376" cy="621792"/>
          </a:xfrm>
          <a:prstGeom prst="roundRect">
            <a:avLst/>
          </a:prstGeom>
          <a:solidFill>
            <a:srgbClr val="FFF3DF"/>
          </a:solidFill>
          <a:ln w="10160">
            <a:solidFill>
              <a:srgbClr val="FF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" y="2935224"/>
            <a:ext cx="73152" cy="621792"/>
          </a:xfrm>
          <a:prstGeom prst="rect">
            <a:avLst/>
          </a:prstGeom>
          <a:solidFill>
            <a:srgbClr val="E7A23B"/>
          </a:solidFill>
          <a:ln w="10160">
            <a:solidFill>
              <a:srgbClr val="E7A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2971800"/>
            <a:ext cx="10698480" cy="539496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4243A"/>
                </a:solidFill>
                <a:latin typeface="Aptos"/>
              </a:rPr>
              <a:t>02  Mất SSH: Không có số đo mới; đánh dấu mất kết nối và báo phục hồi.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648456"/>
            <a:ext cx="11009376" cy="621792"/>
          </a:xfrm>
          <a:prstGeom prst="roundRect">
            <a:avLst/>
          </a:prstGeom>
          <a:solidFill>
            <a:srgbClr val="E7F6F3"/>
          </a:solidFill>
          <a:ln w="10160">
            <a:solidFill>
              <a:srgbClr val="E7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648456"/>
            <a:ext cx="73152" cy="621792"/>
          </a:xfrm>
          <a:prstGeom prst="rect">
            <a:avLst/>
          </a:prstGeom>
          <a:solidFill>
            <a:srgbClr val="15A995"/>
          </a:solidFill>
          <a:ln w="10160">
            <a:solidFill>
              <a:srgbClr val="15A9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3685032"/>
            <a:ext cx="10698480" cy="539496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4243A"/>
                </a:solidFill>
                <a:latin typeface="Aptos"/>
              </a:rPr>
              <a:t>03  Mất Internet: Lấy mẫu vẫn chạy; cảnh báo xếp hàng chờ gửi.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4462272"/>
            <a:ext cx="11009376" cy="15727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FE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517136"/>
            <a:ext cx="10607040" cy="301752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87C71"/>
                </a:solidFill>
                <a:latin typeface="Aptos"/>
              </a:rPr>
              <a:t>GỢI Ý TRỰC QUAN  ·  MA TRẬN 3 LOẠI SỰ CỐ VÀ PHẢN ỨNG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4983" y="4892040"/>
            <a:ext cx="3176016" cy="1005840"/>
          </a:xfrm>
          <a:prstGeom prst="roundRect">
            <a:avLst/>
          </a:prstGeom>
          <a:solidFill>
            <a:srgbClr val="EAF0FF"/>
          </a:solidFill>
          <a:ln w="10160">
            <a:solidFill>
              <a:srgbClr val="4C7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8136" y="4965192"/>
            <a:ext cx="3029711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ens33 DOWN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" y="5376672"/>
            <a:ext cx="3029711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07086"/>
                </a:solidFill>
                <a:latin typeface="Aptos"/>
              </a:rPr>
              <a:t>SSH CÒN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227576" y="5394959"/>
            <a:ext cx="246887" cy="0"/>
          </a:xfrm>
          <a:prstGeom prst="line">
            <a:avLst/>
          </a:prstGeom>
          <a:ln w="27940">
            <a:solidFill>
              <a:srgbClr val="4C7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511040" y="4892040"/>
            <a:ext cx="3176016" cy="1005840"/>
          </a:xfrm>
          <a:prstGeom prst="roundRect">
            <a:avLst/>
          </a:prstGeom>
          <a:solidFill>
            <a:srgbClr val="FFF3DF"/>
          </a:solidFill>
          <a:ln w="10160">
            <a:solidFill>
              <a:srgbClr val="E7A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84192" y="4965192"/>
            <a:ext cx="3029711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SSH MẤT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84192" y="5376672"/>
            <a:ext cx="3029711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07086"/>
                </a:solidFill>
                <a:latin typeface="Aptos"/>
              </a:rPr>
              <a:t>UNKNOWN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723631" y="5394959"/>
            <a:ext cx="246889" cy="0"/>
          </a:xfrm>
          <a:prstGeom prst="line">
            <a:avLst/>
          </a:prstGeom>
          <a:ln w="27940">
            <a:solidFill>
              <a:srgbClr val="E7A2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007095" y="4892040"/>
            <a:ext cx="3176016" cy="1005840"/>
          </a:xfrm>
          <a:prstGeom prst="roundRect">
            <a:avLst/>
          </a:prstGeom>
          <a:solidFill>
            <a:srgbClr val="E5F3EC"/>
          </a:solidFill>
          <a:ln w="10160">
            <a:solidFill>
              <a:srgbClr val="268D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80247" y="4965192"/>
            <a:ext cx="3029711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MẠNG MẤT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80247" y="5376672"/>
            <a:ext cx="3029711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07086"/>
                </a:solidFill>
                <a:latin typeface="Aptos"/>
              </a:rPr>
              <a:t>QUEUE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4360" y="6163056"/>
            <a:ext cx="11009376" cy="484632"/>
          </a:xfrm>
          <a:prstGeom prst="roundRect">
            <a:avLst/>
          </a:prstGeom>
          <a:solidFill>
            <a:srgbClr val="14243A"/>
          </a:solidFill>
          <a:ln w="10160">
            <a:solidFill>
              <a:srgbClr val="14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6190488"/>
            <a:ext cx="10680192" cy="420624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ptos"/>
              </a:rPr>
              <a:t>NGUYÊN TẮC  Ngắt ens33 để thử trạng thái; ngắt GNS3 để thử mất SSH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5A995"/>
          </a:solidFill>
          <a:ln w="10160">
            <a:solidFill>
              <a:srgbClr val="15A9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85216" y="228600"/>
            <a:ext cx="8046720" cy="347472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87C71"/>
                </a:solidFill>
                <a:latin typeface="Aptos"/>
              </a:rPr>
              <a:t>QTMNC  /  GỬI 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72" y="621792"/>
            <a:ext cx="10058400" cy="603504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4243A"/>
                </a:solidFill>
                <a:latin typeface="Aptos"/>
              </a:rPr>
              <a:t>Hàng đợi và độ tin cậy cảnh báo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835640" y="603504"/>
            <a:ext cx="768096" cy="502920"/>
          </a:xfrm>
          <a:prstGeom prst="roundRect">
            <a:avLst/>
          </a:prstGeom>
          <a:solidFill>
            <a:srgbClr val="14243A"/>
          </a:solidFill>
          <a:ln w="10160">
            <a:solidFill>
              <a:srgbClr val="14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63072" y="640080"/>
            <a:ext cx="713232" cy="420624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ptos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353312"/>
            <a:ext cx="11009376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FE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417320"/>
            <a:ext cx="10680192" cy="621792"/>
          </a:xfrm>
          <a:prstGeom prst="rect">
            <a:avLst/>
          </a:prstGeom>
          <a:noFill/>
        </p:spPr>
        <p:txBody>
          <a:bodyPr wrap="square" anchor="ctr" lIns="36576" rIns="36576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THÔNG ĐIỆP  ·  SQLite lưu trạng thái và tin trong cùng giao dịch; luồng gửi riêng thử lại các tin chưa xác nhận.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221992"/>
            <a:ext cx="11009376" cy="621792"/>
          </a:xfrm>
          <a:prstGeom prst="roundRect">
            <a:avLst/>
          </a:prstGeom>
          <a:solidFill>
            <a:srgbClr val="EAF0FF"/>
          </a:solidFill>
          <a:ln w="10160">
            <a:solidFill>
              <a:srgbClr val="EA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2221992"/>
            <a:ext cx="73152" cy="621792"/>
          </a:xfrm>
          <a:prstGeom prst="rect">
            <a:avLst/>
          </a:prstGeom>
          <a:solidFill>
            <a:srgbClr val="4C78E8"/>
          </a:solidFill>
          <a:ln w="10160">
            <a:solidFill>
              <a:srgbClr val="4C7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2258568"/>
            <a:ext cx="10698480" cy="539496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01  Outbox: Giữ tin chưa giao qua lần dừng/chạy lại ứng dụng.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935224"/>
            <a:ext cx="11009376" cy="621792"/>
          </a:xfrm>
          <a:prstGeom prst="roundRect">
            <a:avLst/>
          </a:prstGeom>
          <a:solidFill>
            <a:srgbClr val="FFF3DF"/>
          </a:solidFill>
          <a:ln w="10160">
            <a:solidFill>
              <a:srgbClr val="FF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" y="2935224"/>
            <a:ext cx="73152" cy="621792"/>
          </a:xfrm>
          <a:prstGeom prst="rect">
            <a:avLst/>
          </a:prstGeom>
          <a:solidFill>
            <a:srgbClr val="E7A23B"/>
          </a:solidFill>
          <a:ln w="10160">
            <a:solidFill>
              <a:srgbClr val="E7A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2971800"/>
            <a:ext cx="10698480" cy="539496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4243A"/>
                </a:solidFill>
                <a:latin typeface="Aptos"/>
              </a:rPr>
              <a:t>02  Retry: Backoff 2, 4, 8… tối đa 300 giây; HTTP 429 đọc retry-after.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648456"/>
            <a:ext cx="11009376" cy="621792"/>
          </a:xfrm>
          <a:prstGeom prst="roundRect">
            <a:avLst/>
          </a:prstGeom>
          <a:solidFill>
            <a:srgbClr val="E7F6F3"/>
          </a:solidFill>
          <a:ln w="10160">
            <a:solidFill>
              <a:srgbClr val="E7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648456"/>
            <a:ext cx="73152" cy="621792"/>
          </a:xfrm>
          <a:prstGeom prst="rect">
            <a:avLst/>
          </a:prstGeom>
          <a:solidFill>
            <a:srgbClr val="15A995"/>
          </a:solidFill>
          <a:ln w="10160">
            <a:solidFill>
              <a:srgbClr val="15A9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3685032"/>
            <a:ext cx="10698480" cy="539496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4243A"/>
                </a:solidFill>
                <a:latin typeface="Aptos"/>
              </a:rPr>
              <a:t>03  Cam kết: At-least-once; phản hồi thất lạc có thể làm tin bị gửi trùng.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4462272"/>
            <a:ext cx="11009376" cy="15727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FE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517136"/>
            <a:ext cx="10607040" cy="301752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87C71"/>
                </a:solidFill>
                <a:latin typeface="Aptos"/>
              </a:rPr>
              <a:t>GỢI Ý TRỰC QUAN  ·  LUỒNG STATE → SQLITE → SENDER → API/RETRY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4983" y="4892040"/>
            <a:ext cx="2370582" cy="1005840"/>
          </a:xfrm>
          <a:prstGeom prst="roundRect">
            <a:avLst/>
          </a:prstGeom>
          <a:solidFill>
            <a:srgbClr val="EAF0FF"/>
          </a:solidFill>
          <a:ln w="10160">
            <a:solidFill>
              <a:srgbClr val="4C7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8136" y="4965192"/>
            <a:ext cx="2224277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STATE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" y="5376672"/>
            <a:ext cx="2224277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07086"/>
                </a:solidFill>
                <a:latin typeface="Aptos"/>
              </a:rPr>
              <a:t>SỰ KIỆN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422141" y="5394959"/>
            <a:ext cx="155448" cy="0"/>
          </a:xfrm>
          <a:prstGeom prst="line">
            <a:avLst/>
          </a:prstGeom>
          <a:ln w="27940">
            <a:solidFill>
              <a:srgbClr val="4C7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3614165" y="4892040"/>
            <a:ext cx="2370582" cy="1005840"/>
          </a:xfrm>
          <a:prstGeom prst="roundRect">
            <a:avLst/>
          </a:prstGeom>
          <a:solidFill>
            <a:srgbClr val="FFF3DF"/>
          </a:solidFill>
          <a:ln w="10160">
            <a:solidFill>
              <a:srgbClr val="E7A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87318" y="4965192"/>
            <a:ext cx="2224277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SQLITE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87318" y="5376672"/>
            <a:ext cx="2224277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07086"/>
                </a:solidFill>
                <a:latin typeface="Aptos"/>
              </a:rPr>
              <a:t>LƯU BỀN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021324" y="5394959"/>
            <a:ext cx="155448" cy="0"/>
          </a:xfrm>
          <a:prstGeom prst="line">
            <a:avLst/>
          </a:prstGeom>
          <a:ln w="27940">
            <a:solidFill>
              <a:srgbClr val="E7A2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213348" y="4892040"/>
            <a:ext cx="2370582" cy="1005840"/>
          </a:xfrm>
          <a:prstGeom prst="roundRect">
            <a:avLst/>
          </a:prstGeom>
          <a:solidFill>
            <a:srgbClr val="E5F3EC"/>
          </a:solidFill>
          <a:ln w="10160">
            <a:solidFill>
              <a:srgbClr val="268D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86500" y="4965192"/>
            <a:ext cx="2224277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OUTBOX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6500" y="5376672"/>
            <a:ext cx="2224277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07086"/>
                </a:solidFill>
                <a:latin typeface="Aptos"/>
              </a:rPr>
              <a:t>CHỜ GỬI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620505" y="5394959"/>
            <a:ext cx="155449" cy="0"/>
          </a:xfrm>
          <a:prstGeom prst="line">
            <a:avLst/>
          </a:prstGeom>
          <a:ln w="27940">
            <a:solidFill>
              <a:srgbClr val="268D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812530" y="4892040"/>
            <a:ext cx="2370582" cy="1005840"/>
          </a:xfrm>
          <a:prstGeom prst="roundRect">
            <a:avLst/>
          </a:prstGeom>
          <a:solidFill>
            <a:srgbClr val="E7F6F3"/>
          </a:solidFill>
          <a:ln w="10160">
            <a:solidFill>
              <a:srgbClr val="15A9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85682" y="4965192"/>
            <a:ext cx="2224277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API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85682" y="5376672"/>
            <a:ext cx="2224277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07086"/>
                </a:solidFill>
                <a:latin typeface="Aptos"/>
              </a:rPr>
              <a:t>THỬ LẠI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6163056"/>
            <a:ext cx="11009376" cy="484632"/>
          </a:xfrm>
          <a:prstGeom prst="roundRect">
            <a:avLst/>
          </a:prstGeom>
          <a:solidFill>
            <a:srgbClr val="14243A"/>
          </a:solidFill>
          <a:ln w="10160">
            <a:solidFill>
              <a:srgbClr val="14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9808" y="6190488"/>
            <a:ext cx="10680192" cy="420624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ptos"/>
              </a:rPr>
              <a:t>SQLite  states + outbox; mỗi kênh giữ thứ tự tin riêng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5A995"/>
          </a:solidFill>
          <a:ln w="10160">
            <a:solidFill>
              <a:srgbClr val="15A9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85216" y="228600"/>
            <a:ext cx="8046720" cy="347472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87C71"/>
                </a:solidFill>
                <a:latin typeface="Aptos"/>
              </a:rPr>
              <a:t>QTMNC  /  AN TOÀN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72" y="621792"/>
            <a:ext cx="10058400" cy="603504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4243A"/>
                </a:solidFill>
                <a:latin typeface="Aptos"/>
              </a:rPr>
              <a:t>Bảo vệ thông tin và kết nối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835640" y="603504"/>
            <a:ext cx="768096" cy="502920"/>
          </a:xfrm>
          <a:prstGeom prst="roundRect">
            <a:avLst/>
          </a:prstGeom>
          <a:solidFill>
            <a:srgbClr val="14243A"/>
          </a:solidFill>
          <a:ln w="10160">
            <a:solidFill>
              <a:srgbClr val="14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63072" y="640080"/>
            <a:ext cx="713232" cy="420624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ptos"/>
              </a:rPr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353312"/>
            <a:ext cx="11009376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FE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417320"/>
            <a:ext cx="10680192" cy="621792"/>
          </a:xfrm>
          <a:prstGeom prst="rect">
            <a:avLst/>
          </a:prstGeom>
          <a:noFill/>
        </p:spPr>
        <p:txBody>
          <a:bodyPr wrap="square" anchor="ctr" lIns="36576" rIns="36576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THÔNG ĐIỆP  ·  Xác minh host key, lưu secret cục bộ và giới hạn giao thức quản trị trong mạng lab.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221992"/>
            <a:ext cx="11009376" cy="621792"/>
          </a:xfrm>
          <a:prstGeom prst="roundRect">
            <a:avLst/>
          </a:prstGeom>
          <a:solidFill>
            <a:srgbClr val="EAF0FF"/>
          </a:solidFill>
          <a:ln w="10160">
            <a:solidFill>
              <a:srgbClr val="EA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2221992"/>
            <a:ext cx="73152" cy="621792"/>
          </a:xfrm>
          <a:prstGeom prst="rect">
            <a:avLst/>
          </a:prstGeom>
          <a:solidFill>
            <a:srgbClr val="4C78E8"/>
          </a:solidFill>
          <a:ln w="10160">
            <a:solidFill>
              <a:srgbClr val="4C7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2258568"/>
            <a:ext cx="10698480" cy="539496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01  SSH: RejectPolicy + known_hosts; không tự tin host key lạ.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935224"/>
            <a:ext cx="11009376" cy="621792"/>
          </a:xfrm>
          <a:prstGeom prst="roundRect">
            <a:avLst/>
          </a:prstGeom>
          <a:solidFill>
            <a:srgbClr val="FFF3DF"/>
          </a:solidFill>
          <a:ln w="10160">
            <a:solidFill>
              <a:srgbClr val="FF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" y="2935224"/>
            <a:ext cx="73152" cy="621792"/>
          </a:xfrm>
          <a:prstGeom prst="rect">
            <a:avLst/>
          </a:prstGeom>
          <a:solidFill>
            <a:srgbClr val="E7A23B"/>
          </a:solidFill>
          <a:ln w="10160">
            <a:solidFill>
              <a:srgbClr val="E7A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2971800"/>
            <a:ext cx="10698480" cy="539496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4243A"/>
                </a:solidFill>
                <a:latin typeface="Aptos"/>
              </a:rPr>
              <a:t>02  Secret: Mật khẩu/token/webhook ở .env bị Git ignore; không ghi log.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648456"/>
            <a:ext cx="11009376" cy="621792"/>
          </a:xfrm>
          <a:prstGeom prst="roundRect">
            <a:avLst/>
          </a:prstGeom>
          <a:solidFill>
            <a:srgbClr val="E7F6F3"/>
          </a:solidFill>
          <a:ln w="10160">
            <a:solidFill>
              <a:srgbClr val="E7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648456"/>
            <a:ext cx="73152" cy="621792"/>
          </a:xfrm>
          <a:prstGeom prst="rect">
            <a:avLst/>
          </a:prstGeom>
          <a:solidFill>
            <a:srgbClr val="15A995"/>
          </a:solidFill>
          <a:ln w="10160">
            <a:solidFill>
              <a:srgbClr val="15A9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3685032"/>
            <a:ext cx="10698480" cy="539496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4243A"/>
                </a:solidFill>
                <a:latin typeface="Aptos"/>
              </a:rPr>
              <a:t>03  SNMP: v2c chỉ lab cô lập; v3 authPriv hỗ trợ xác thực/mã hóa.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4462272"/>
            <a:ext cx="11009376" cy="15727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FE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517136"/>
            <a:ext cx="10607040" cy="301752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87C71"/>
                </a:solidFill>
                <a:latin typeface="Aptos"/>
              </a:rPr>
              <a:t>GỢI Ý TRỰC QUAN  ·  BỐN LỚP XÁC MINH VÀ BẢO VỆ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4983" y="4892040"/>
            <a:ext cx="2370582" cy="1005840"/>
          </a:xfrm>
          <a:prstGeom prst="roundRect">
            <a:avLst/>
          </a:prstGeom>
          <a:solidFill>
            <a:srgbClr val="EAF0FF"/>
          </a:solidFill>
          <a:ln w="10160">
            <a:solidFill>
              <a:srgbClr val="4C7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8136" y="4965192"/>
            <a:ext cx="2224277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HOST KEY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" y="5376672"/>
            <a:ext cx="2224277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07086"/>
                </a:solidFill>
                <a:latin typeface="Aptos"/>
              </a:rPr>
              <a:t>XÁC MINH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422141" y="5394959"/>
            <a:ext cx="155448" cy="0"/>
          </a:xfrm>
          <a:prstGeom prst="line">
            <a:avLst/>
          </a:prstGeom>
          <a:ln w="27940">
            <a:solidFill>
              <a:srgbClr val="4C7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3614165" y="4892040"/>
            <a:ext cx="2370582" cy="1005840"/>
          </a:xfrm>
          <a:prstGeom prst="roundRect">
            <a:avLst/>
          </a:prstGeom>
          <a:solidFill>
            <a:srgbClr val="FFF3DF"/>
          </a:solidFill>
          <a:ln w="10160">
            <a:solidFill>
              <a:srgbClr val="E7A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87318" y="4965192"/>
            <a:ext cx="2224277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SECRET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87318" y="5376672"/>
            <a:ext cx="2224277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07086"/>
                </a:solidFill>
                <a:latin typeface="Aptos"/>
              </a:rPr>
              <a:t>.ENV CỤC BỘ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021324" y="5394959"/>
            <a:ext cx="155448" cy="0"/>
          </a:xfrm>
          <a:prstGeom prst="line">
            <a:avLst/>
          </a:prstGeom>
          <a:ln w="27940">
            <a:solidFill>
              <a:srgbClr val="E7A2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213348" y="4892040"/>
            <a:ext cx="2370582" cy="1005840"/>
          </a:xfrm>
          <a:prstGeom prst="roundRect">
            <a:avLst/>
          </a:prstGeom>
          <a:solidFill>
            <a:srgbClr val="E5F3EC"/>
          </a:solidFill>
          <a:ln w="10160">
            <a:solidFill>
              <a:srgbClr val="268D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86500" y="4965192"/>
            <a:ext cx="2224277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HTTPS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6500" y="5376672"/>
            <a:ext cx="2224277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07086"/>
                </a:solidFill>
                <a:latin typeface="Aptos"/>
              </a:rPr>
              <a:t>TLS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620505" y="5394959"/>
            <a:ext cx="155449" cy="0"/>
          </a:xfrm>
          <a:prstGeom prst="line">
            <a:avLst/>
          </a:prstGeom>
          <a:ln w="27940">
            <a:solidFill>
              <a:srgbClr val="268D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812530" y="4892040"/>
            <a:ext cx="2370582" cy="1005840"/>
          </a:xfrm>
          <a:prstGeom prst="roundRect">
            <a:avLst/>
          </a:prstGeom>
          <a:solidFill>
            <a:srgbClr val="E7F6F3"/>
          </a:solidFill>
          <a:ln w="10160">
            <a:solidFill>
              <a:srgbClr val="15A9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85682" y="4965192"/>
            <a:ext cx="2224277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SNMPv3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85682" y="5376672"/>
            <a:ext cx="2224277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07086"/>
                </a:solidFill>
                <a:latin typeface="Aptos"/>
              </a:rPr>
              <a:t>AUTH / PRIV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6163056"/>
            <a:ext cx="11009376" cy="484632"/>
          </a:xfrm>
          <a:prstGeom prst="roundRect">
            <a:avLst/>
          </a:prstGeom>
          <a:solidFill>
            <a:srgbClr val="14243A"/>
          </a:solidFill>
          <a:ln w="10160">
            <a:solidFill>
              <a:srgbClr val="14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9808" y="6190488"/>
            <a:ext cx="10680192" cy="420624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ptos"/>
              </a:rPr>
              <a:t>PORT  SSH TCP/22 · SNMP UDP/161 · API HTTPS/TCP 443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5A995"/>
          </a:solidFill>
          <a:ln w="10160">
            <a:solidFill>
              <a:srgbClr val="15A9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85216" y="228600"/>
            <a:ext cx="8046720" cy="347472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87C71"/>
                </a:solidFill>
                <a:latin typeface="Aptos"/>
              </a:rPr>
              <a:t>QTMNC  /  TRIỂN KHAI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72" y="621792"/>
            <a:ext cx="10058400" cy="603504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4243A"/>
                </a:solidFill>
                <a:latin typeface="Aptos"/>
              </a:rPr>
              <a:t>Hai profile triển khai dự án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835640" y="603504"/>
            <a:ext cx="768096" cy="502920"/>
          </a:xfrm>
          <a:prstGeom prst="roundRect">
            <a:avLst/>
          </a:prstGeom>
          <a:solidFill>
            <a:srgbClr val="14243A"/>
          </a:solidFill>
          <a:ln w="10160">
            <a:solidFill>
              <a:srgbClr val="14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63072" y="640080"/>
            <a:ext cx="713232" cy="420624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ptos"/>
              </a:rPr>
              <a:t>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353312"/>
            <a:ext cx="11009376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FE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417320"/>
            <a:ext cx="10680192" cy="621792"/>
          </a:xfrm>
          <a:prstGeom prst="rect">
            <a:avLst/>
          </a:prstGeom>
          <a:noFill/>
        </p:spPr>
        <p:txBody>
          <a:bodyPr wrap="square" anchor="ctr" lIns="36576" rIns="36576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THÔNG ĐIỆP  ·  Bản đơn giản giảm bước cài đặt; profile GNS3 mở rộng SNMP/hybrid và mạng thử nghiệm riêng.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221992"/>
            <a:ext cx="11009376" cy="621792"/>
          </a:xfrm>
          <a:prstGeom prst="roundRect">
            <a:avLst/>
          </a:prstGeom>
          <a:solidFill>
            <a:srgbClr val="EAF0FF"/>
          </a:solidFill>
          <a:ln w="10160">
            <a:solidFill>
              <a:srgbClr val="EA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2221992"/>
            <a:ext cx="73152" cy="621792"/>
          </a:xfrm>
          <a:prstGeom prst="rect">
            <a:avLst/>
          </a:prstGeom>
          <a:solidFill>
            <a:srgbClr val="4C78E8"/>
          </a:solidFill>
          <a:ln w="10160">
            <a:solidFill>
              <a:srgbClr val="4C7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2258568"/>
            <a:ext cx="10698480" cy="539496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01  Đơn giản: run_windows.cmd; SSH tới .10.129; theo dõi ens33.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935224"/>
            <a:ext cx="11009376" cy="621792"/>
          </a:xfrm>
          <a:prstGeom prst="roundRect">
            <a:avLst/>
          </a:prstGeom>
          <a:solidFill>
            <a:srgbClr val="FFF3DF"/>
          </a:solidFill>
          <a:ln w="10160">
            <a:solidFill>
              <a:srgbClr val="FF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" y="2935224"/>
            <a:ext cx="73152" cy="621792"/>
          </a:xfrm>
          <a:prstGeom prst="rect">
            <a:avLst/>
          </a:prstGeom>
          <a:solidFill>
            <a:srgbClr val="E7A23B"/>
          </a:solidFill>
          <a:ln w="10160">
            <a:solidFill>
              <a:srgbClr val="E7A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2971800"/>
            <a:ext cx="10698480" cy="539496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4243A"/>
                </a:solidFill>
                <a:latin typeface="Aptos"/>
              </a:rPr>
              <a:t>02  Mở rộng: .env.gns3; SSH/SNMP/hybrid; gns3test .30.129.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648456"/>
            <a:ext cx="11009376" cy="621792"/>
          </a:xfrm>
          <a:prstGeom prst="roundRect">
            <a:avLst/>
          </a:prstGeom>
          <a:solidFill>
            <a:srgbClr val="E7F6F3"/>
          </a:solidFill>
          <a:ln w="10160">
            <a:solidFill>
              <a:srgbClr val="E7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648456"/>
            <a:ext cx="73152" cy="621792"/>
          </a:xfrm>
          <a:prstGeom prst="rect">
            <a:avLst/>
          </a:prstGeom>
          <a:solidFill>
            <a:srgbClr val="15A995"/>
          </a:solidFill>
          <a:ln w="10160">
            <a:solidFill>
              <a:srgbClr val="15A9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3685032"/>
            <a:ext cx="10698480" cy="539496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4243A"/>
                </a:solidFill>
                <a:latin typeface="Aptos"/>
              </a:rPr>
              <a:t>03  Dùng chung: Ngưỡng, SQLite, dashboard và Telegram/Slack.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4462272"/>
            <a:ext cx="11009376" cy="15727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FE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517136"/>
            <a:ext cx="10607040" cy="301752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87C71"/>
                </a:solidFill>
                <a:latin typeface="Aptos"/>
              </a:rPr>
              <a:t>GỢI Ý TRỰC QUAN  ·  SO SÁNH HAI PROFILE ĐƠN GIẢN/MỞ RỘNG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4983" y="4892040"/>
            <a:ext cx="4924044" cy="1005840"/>
          </a:xfrm>
          <a:prstGeom prst="roundRect">
            <a:avLst/>
          </a:prstGeom>
          <a:solidFill>
            <a:srgbClr val="EAF0FF"/>
          </a:solidFill>
          <a:ln w="10160">
            <a:solidFill>
              <a:srgbClr val="4C7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8136" y="4965192"/>
            <a:ext cx="4777740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ĐƠN GIẢN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" y="5376672"/>
            <a:ext cx="4777740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07086"/>
                </a:solidFill>
                <a:latin typeface="Aptos"/>
              </a:rPr>
              <a:t>SSH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975603" y="5394959"/>
            <a:ext cx="246888" cy="0"/>
          </a:xfrm>
          <a:prstGeom prst="line">
            <a:avLst/>
          </a:prstGeom>
          <a:ln w="27940">
            <a:solidFill>
              <a:srgbClr val="4C7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259067" y="4892040"/>
            <a:ext cx="4924044" cy="1005840"/>
          </a:xfrm>
          <a:prstGeom prst="roundRect">
            <a:avLst/>
          </a:prstGeom>
          <a:solidFill>
            <a:srgbClr val="FFF3DF"/>
          </a:solidFill>
          <a:ln w="10160">
            <a:solidFill>
              <a:srgbClr val="E7A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32219" y="4965192"/>
            <a:ext cx="4777740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MỞ RỘNG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32219" y="5376672"/>
            <a:ext cx="4777740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07086"/>
                </a:solidFill>
                <a:latin typeface="Aptos"/>
              </a:rPr>
              <a:t>SSH + SNMP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6163056"/>
            <a:ext cx="11009376" cy="484632"/>
          </a:xfrm>
          <a:prstGeom prst="roundRect">
            <a:avLst/>
          </a:prstGeom>
          <a:solidFill>
            <a:srgbClr val="14243A"/>
          </a:solidFill>
          <a:ln w="10160">
            <a:solidFill>
              <a:srgbClr val="14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6190488"/>
            <a:ext cx="10680192" cy="420624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ptos"/>
              </a:rPr>
              <a:t>LAB MỞ RỘNG  VMnet3 .30.0/24 · VPCS .30.10 (kiểm tra mạng)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5A995"/>
          </a:solidFill>
          <a:ln w="10160">
            <a:solidFill>
              <a:srgbClr val="15A9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85216" y="228600"/>
            <a:ext cx="8046720" cy="347472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87C71"/>
                </a:solidFill>
                <a:latin typeface="Aptos"/>
              </a:rPr>
              <a:t>QTMNC  /  NGHIỆM THU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72" y="621792"/>
            <a:ext cx="10058400" cy="603504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4243A"/>
                </a:solidFill>
                <a:latin typeface="Aptos"/>
              </a:rPr>
              <a:t>Kế hoạch kiểm thử và nghiệm thu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835640" y="603504"/>
            <a:ext cx="768096" cy="502920"/>
          </a:xfrm>
          <a:prstGeom prst="roundRect">
            <a:avLst/>
          </a:prstGeom>
          <a:solidFill>
            <a:srgbClr val="14243A"/>
          </a:solidFill>
          <a:ln w="10160">
            <a:solidFill>
              <a:srgbClr val="14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63072" y="640080"/>
            <a:ext cx="713232" cy="420624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ptos"/>
              </a:rPr>
              <a:t>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353312"/>
            <a:ext cx="11009376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FE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417320"/>
            <a:ext cx="10680192" cy="621792"/>
          </a:xfrm>
          <a:prstGeom prst="rect">
            <a:avLst/>
          </a:prstGeom>
          <a:noFill/>
        </p:spPr>
        <p:txBody>
          <a:bodyPr wrap="square" anchor="ctr" lIns="36576" rIns="36576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THÔNG ĐIỆP  ·  Mỗi tình huống phải gắn kích thích, phản ứng mong đợi và bằng chứng trên máy thật.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221992"/>
            <a:ext cx="11009376" cy="621792"/>
          </a:xfrm>
          <a:prstGeom prst="roundRect">
            <a:avLst/>
          </a:prstGeom>
          <a:solidFill>
            <a:srgbClr val="EAF0FF"/>
          </a:solidFill>
          <a:ln w="10160">
            <a:solidFill>
              <a:srgbClr val="EA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2221992"/>
            <a:ext cx="73152" cy="621792"/>
          </a:xfrm>
          <a:prstGeom prst="rect">
            <a:avLst/>
          </a:prstGeom>
          <a:solidFill>
            <a:srgbClr val="4C78E8"/>
          </a:solidFill>
          <a:ln w="10160">
            <a:solidFill>
              <a:srgbClr val="4C7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2258568"/>
            <a:ext cx="10698480" cy="539496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01  Tài nguyên: Tạo tải CPU/RAM; xác nhận cảnh báo và phục hồi.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935224"/>
            <a:ext cx="11009376" cy="621792"/>
          </a:xfrm>
          <a:prstGeom prst="roundRect">
            <a:avLst/>
          </a:prstGeom>
          <a:solidFill>
            <a:srgbClr val="FFF3DF"/>
          </a:solidFill>
          <a:ln w="10160">
            <a:solidFill>
              <a:srgbClr val="FF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" y="2935224"/>
            <a:ext cx="73152" cy="621792"/>
          </a:xfrm>
          <a:prstGeom prst="rect">
            <a:avLst/>
          </a:prstGeom>
          <a:solidFill>
            <a:srgbClr val="E7A23B"/>
          </a:solidFill>
          <a:ln w="10160">
            <a:solidFill>
              <a:srgbClr val="E7A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2971800"/>
            <a:ext cx="10698480" cy="539496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4243A"/>
                </a:solidFill>
                <a:latin typeface="Aptos"/>
              </a:rPr>
              <a:t>02  Kết nối: Ngắt ens33, SSH/GNS3 hoặc Internet riêng theo từng ca.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648456"/>
            <a:ext cx="11009376" cy="621792"/>
          </a:xfrm>
          <a:prstGeom prst="roundRect">
            <a:avLst/>
          </a:prstGeom>
          <a:solidFill>
            <a:srgbClr val="E7F6F3"/>
          </a:solidFill>
          <a:ln w="10160">
            <a:solidFill>
              <a:srgbClr val="E7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648456"/>
            <a:ext cx="73152" cy="621792"/>
          </a:xfrm>
          <a:prstGeom prst="rect">
            <a:avLst/>
          </a:prstGeom>
          <a:solidFill>
            <a:srgbClr val="15A995"/>
          </a:solidFill>
          <a:ln w="10160">
            <a:solidFill>
              <a:srgbClr val="15A9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3685032"/>
            <a:ext cx="10698480" cy="539496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4243A"/>
                </a:solidFill>
                <a:latin typeface="Aptos"/>
              </a:rPr>
              <a:t>03  Dữ liệu: Kiểm tra nhiệt độ UNKNOWN/demo và host key sai.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4462272"/>
            <a:ext cx="11009376" cy="15727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FE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517136"/>
            <a:ext cx="10607040" cy="301752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87C71"/>
                </a:solidFill>
                <a:latin typeface="Aptos"/>
              </a:rPr>
              <a:t>GỢI Ý TRỰC QUAN  ·  MA TRẬN KIỂM THỬ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4983" y="4892040"/>
            <a:ext cx="3176016" cy="1005840"/>
          </a:xfrm>
          <a:prstGeom prst="roundRect">
            <a:avLst/>
          </a:prstGeom>
          <a:solidFill>
            <a:srgbClr val="EAF0FF"/>
          </a:solidFill>
          <a:ln w="10160">
            <a:solidFill>
              <a:srgbClr val="4C7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8136" y="4965192"/>
            <a:ext cx="3029711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CPU / RAM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" y="5376672"/>
            <a:ext cx="3029711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07086"/>
                </a:solidFill>
                <a:latin typeface="Aptos"/>
              </a:rPr>
              <a:t>VƯỢT NGƯỠNG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227576" y="5394959"/>
            <a:ext cx="246887" cy="0"/>
          </a:xfrm>
          <a:prstGeom prst="line">
            <a:avLst/>
          </a:prstGeom>
          <a:ln w="27940">
            <a:solidFill>
              <a:srgbClr val="4C7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511040" y="4892040"/>
            <a:ext cx="3176016" cy="1005840"/>
          </a:xfrm>
          <a:prstGeom prst="roundRect">
            <a:avLst/>
          </a:prstGeom>
          <a:solidFill>
            <a:srgbClr val="FFF3DF"/>
          </a:solidFill>
          <a:ln w="10160">
            <a:solidFill>
              <a:srgbClr val="E7A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84192" y="4965192"/>
            <a:ext cx="3029711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SSH / NIC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84192" y="5376672"/>
            <a:ext cx="3029711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07086"/>
                </a:solidFill>
                <a:latin typeface="Aptos"/>
              </a:rPr>
              <a:t>NGẮT KẾT NỐI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723631" y="5394959"/>
            <a:ext cx="246889" cy="0"/>
          </a:xfrm>
          <a:prstGeom prst="line">
            <a:avLst/>
          </a:prstGeom>
          <a:ln w="27940">
            <a:solidFill>
              <a:srgbClr val="E7A2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007095" y="4892040"/>
            <a:ext cx="3176016" cy="1005840"/>
          </a:xfrm>
          <a:prstGeom prst="roundRect">
            <a:avLst/>
          </a:prstGeom>
          <a:solidFill>
            <a:srgbClr val="E5F3EC"/>
          </a:solidFill>
          <a:ln w="10160">
            <a:solidFill>
              <a:srgbClr val="268D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80247" y="4965192"/>
            <a:ext cx="3029711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INTERNET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80247" y="5376672"/>
            <a:ext cx="3029711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07086"/>
                </a:solidFill>
                <a:latin typeface="Aptos"/>
              </a:rPr>
              <a:t>QUEUE / RETRY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4360" y="6163056"/>
            <a:ext cx="11009376" cy="484632"/>
          </a:xfrm>
          <a:prstGeom prst="roundRect">
            <a:avLst/>
          </a:prstGeom>
          <a:solidFill>
            <a:srgbClr val="14243A"/>
          </a:solidFill>
          <a:ln w="10160">
            <a:solidFill>
              <a:srgbClr val="14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6190488"/>
            <a:ext cx="10680192" cy="420624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ptos"/>
              </a:rPr>
              <a:t>BẰNG CHỨNG  Thời điểm đo · tin nhận · ảnh đã che secret · phiên bản/commit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5A995"/>
          </a:solidFill>
          <a:ln w="10160">
            <a:solidFill>
              <a:srgbClr val="15A9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85216" y="228600"/>
            <a:ext cx="8046720" cy="347472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87C71"/>
                </a:solidFill>
                <a:latin typeface="Aptos"/>
              </a:rPr>
              <a:t>QTMNC  /  KIỂM CHỨNG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72" y="621792"/>
            <a:ext cx="10058400" cy="603504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4243A"/>
                </a:solidFill>
                <a:latin typeface="Aptos"/>
              </a:rPr>
              <a:t>Kết quả kiểm chứng hiện có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835640" y="603504"/>
            <a:ext cx="768096" cy="502920"/>
          </a:xfrm>
          <a:prstGeom prst="roundRect">
            <a:avLst/>
          </a:prstGeom>
          <a:solidFill>
            <a:srgbClr val="14243A"/>
          </a:solidFill>
          <a:ln w="10160">
            <a:solidFill>
              <a:srgbClr val="14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63072" y="640080"/>
            <a:ext cx="713232" cy="420624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ptos"/>
              </a:rPr>
              <a:t>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353312"/>
            <a:ext cx="11009376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FE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417320"/>
            <a:ext cx="10680192" cy="621792"/>
          </a:xfrm>
          <a:prstGeom prst="rect">
            <a:avLst/>
          </a:prstGeom>
          <a:noFill/>
        </p:spPr>
        <p:txBody>
          <a:bodyPr wrap="square" anchor="ctr" lIns="36576" rIns="36576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THÔNG ĐIỆP  ·  Kiểm thử mã bao phủ collector, ngưỡng và retry; xác nhận trên Windows/GNS3 thật vẫn là bước riêng.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221992"/>
            <a:ext cx="11009376" cy="621792"/>
          </a:xfrm>
          <a:prstGeom prst="roundRect">
            <a:avLst/>
          </a:prstGeom>
          <a:solidFill>
            <a:srgbClr val="EAF0FF"/>
          </a:solidFill>
          <a:ln w="10160">
            <a:solidFill>
              <a:srgbClr val="EA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2221992"/>
            <a:ext cx="73152" cy="621792"/>
          </a:xfrm>
          <a:prstGeom prst="rect">
            <a:avLst/>
          </a:prstGeom>
          <a:solidFill>
            <a:srgbClr val="4C78E8"/>
          </a:solidFill>
          <a:ln w="10160">
            <a:solidFill>
              <a:srgbClr val="4C7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2258568"/>
            <a:ext cx="10698480" cy="539496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01  Tự động: 119 unit tests; SSH/SNMP loopback và parser/test outbox.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935224"/>
            <a:ext cx="11009376" cy="621792"/>
          </a:xfrm>
          <a:prstGeom prst="roundRect">
            <a:avLst/>
          </a:prstGeom>
          <a:solidFill>
            <a:srgbClr val="FFF3DF"/>
          </a:solidFill>
          <a:ln w="10160">
            <a:solidFill>
              <a:srgbClr val="FF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" y="2935224"/>
            <a:ext cx="73152" cy="621792"/>
          </a:xfrm>
          <a:prstGeom prst="rect">
            <a:avLst/>
          </a:prstGeom>
          <a:solidFill>
            <a:srgbClr val="E7A23B"/>
          </a:solidFill>
          <a:ln w="10160">
            <a:solidFill>
              <a:srgbClr val="E7A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2971800"/>
            <a:ext cx="10698480" cy="539496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4243A"/>
                </a:solidFill>
                <a:latin typeface="Aptos"/>
              </a:rPr>
              <a:t>02  Mạng thật: TCP/22 tới .10.129 từng thành công qua Local Area Connection.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648456"/>
            <a:ext cx="11009376" cy="621792"/>
          </a:xfrm>
          <a:prstGeom prst="roundRect">
            <a:avLst/>
          </a:prstGeom>
          <a:solidFill>
            <a:srgbClr val="E7F6F3"/>
          </a:solidFill>
          <a:ln w="10160">
            <a:solidFill>
              <a:srgbClr val="E7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648456"/>
            <a:ext cx="73152" cy="621792"/>
          </a:xfrm>
          <a:prstGeom prst="rect">
            <a:avLst/>
          </a:prstGeom>
          <a:solidFill>
            <a:srgbClr val="15A995"/>
          </a:solidFill>
          <a:ln w="10160">
            <a:solidFill>
              <a:srgbClr val="15A9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3685032"/>
            <a:ext cx="10698480" cy="539496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4243A"/>
                </a:solidFill>
                <a:latin typeface="Aptos"/>
              </a:rPr>
              <a:t>03  Giới hạn chứng cứ: Loopback tests không chứng minh Telegram/SNMP agent thật.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4462272"/>
            <a:ext cx="11009376" cy="15727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FE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517136"/>
            <a:ext cx="10607040" cy="301752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87C71"/>
                </a:solidFill>
                <a:latin typeface="Aptos"/>
              </a:rPr>
              <a:t>GỢI Ý TRỰC QUAN  ·  THẺ SỐ LIỆU KIỂM CHỨNG THỰC TẾ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4983" y="4892040"/>
            <a:ext cx="2370582" cy="1005840"/>
          </a:xfrm>
          <a:prstGeom prst="roundRect">
            <a:avLst/>
          </a:prstGeom>
          <a:solidFill>
            <a:srgbClr val="EAF0FF"/>
          </a:solidFill>
          <a:ln w="10160">
            <a:solidFill>
              <a:srgbClr val="4C7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8136" y="4965192"/>
            <a:ext cx="2224277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119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" y="5376672"/>
            <a:ext cx="2224277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07086"/>
                </a:solidFill>
                <a:latin typeface="Aptos"/>
              </a:rPr>
              <a:t>UNIT TESTS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422141" y="5394959"/>
            <a:ext cx="155448" cy="0"/>
          </a:xfrm>
          <a:prstGeom prst="line">
            <a:avLst/>
          </a:prstGeom>
          <a:ln w="27940">
            <a:solidFill>
              <a:srgbClr val="4C7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3614165" y="4892040"/>
            <a:ext cx="2370582" cy="1005840"/>
          </a:xfrm>
          <a:prstGeom prst="roundRect">
            <a:avLst/>
          </a:prstGeom>
          <a:solidFill>
            <a:srgbClr val="FFF3DF"/>
          </a:solidFill>
          <a:ln w="10160">
            <a:solidFill>
              <a:srgbClr val="E7A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87318" y="4965192"/>
            <a:ext cx="2224277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TCP / 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87318" y="5376672"/>
            <a:ext cx="2224277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07086"/>
                </a:solidFill>
                <a:latin typeface="Aptos"/>
              </a:rPr>
              <a:t>ĐÃ KẾT NỐI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021324" y="5394959"/>
            <a:ext cx="155448" cy="0"/>
          </a:xfrm>
          <a:prstGeom prst="line">
            <a:avLst/>
          </a:prstGeom>
          <a:ln w="27940">
            <a:solidFill>
              <a:srgbClr val="E7A2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213348" y="4892040"/>
            <a:ext cx="2370582" cy="1005840"/>
          </a:xfrm>
          <a:prstGeom prst="roundRect">
            <a:avLst/>
          </a:prstGeom>
          <a:solidFill>
            <a:srgbClr val="E5F3EC"/>
          </a:solidFill>
          <a:ln w="10160">
            <a:solidFill>
              <a:srgbClr val="268D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86500" y="4965192"/>
            <a:ext cx="2224277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106 / 57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6500" y="5376672"/>
            <a:ext cx="2224277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07086"/>
                </a:solidFill>
                <a:latin typeface="Aptos"/>
              </a:rPr>
              <a:t>FRAME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620505" y="5394959"/>
            <a:ext cx="155449" cy="0"/>
          </a:xfrm>
          <a:prstGeom prst="line">
            <a:avLst/>
          </a:prstGeom>
          <a:ln w="27940">
            <a:solidFill>
              <a:srgbClr val="268D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812530" y="4892040"/>
            <a:ext cx="2370582" cy="1005840"/>
          </a:xfrm>
          <a:prstGeom prst="roundRect">
            <a:avLst/>
          </a:prstGeom>
          <a:solidFill>
            <a:srgbClr val="E7F6F3"/>
          </a:solidFill>
          <a:ln w="10160">
            <a:solidFill>
              <a:srgbClr val="15A9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85682" y="4965192"/>
            <a:ext cx="2224277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85682" y="5376672"/>
            <a:ext cx="2224277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07086"/>
                </a:solidFill>
                <a:latin typeface="Aptos"/>
              </a:rPr>
              <a:t>DROPPED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6163056"/>
            <a:ext cx="11009376" cy="484632"/>
          </a:xfrm>
          <a:prstGeom prst="roundRect">
            <a:avLst/>
          </a:prstGeom>
          <a:solidFill>
            <a:srgbClr val="14243A"/>
          </a:solidFill>
          <a:ln w="10160">
            <a:solidFill>
              <a:srgbClr val="14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9808" y="6190488"/>
            <a:ext cx="10680192" cy="420624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ptos"/>
              </a:rPr>
              <a:t>ẢNH NGƯỜI DÙNG  TAP counters: 106→GNS3, 57→TAP, dropped 0 (một thời điểm)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5A995"/>
          </a:solidFill>
          <a:ln w="10160">
            <a:solidFill>
              <a:srgbClr val="15A9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85216" y="228600"/>
            <a:ext cx="8046720" cy="347472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87C71"/>
                </a:solidFill>
                <a:latin typeface="Aptos"/>
              </a:rPr>
              <a:t>QTMNC  /  GIỚI HẠN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72" y="621792"/>
            <a:ext cx="10058400" cy="603504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4243A"/>
                </a:solidFill>
                <a:latin typeface="Aptos"/>
              </a:rPr>
              <a:t>Giới hạn kỹ thuật cần công bố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835640" y="603504"/>
            <a:ext cx="768096" cy="502920"/>
          </a:xfrm>
          <a:prstGeom prst="roundRect">
            <a:avLst/>
          </a:prstGeom>
          <a:solidFill>
            <a:srgbClr val="14243A"/>
          </a:solidFill>
          <a:ln w="10160">
            <a:solidFill>
              <a:srgbClr val="14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63072" y="640080"/>
            <a:ext cx="713232" cy="420624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ptos"/>
              </a:rPr>
              <a:t>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353312"/>
            <a:ext cx="11009376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FE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417320"/>
            <a:ext cx="10680192" cy="621792"/>
          </a:xfrm>
          <a:prstGeom prst="rect">
            <a:avLst/>
          </a:prstGeom>
          <a:noFill/>
        </p:spPr>
        <p:txBody>
          <a:bodyPr wrap="square" anchor="ctr" lIns="36576" rIns="36576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THÔNG ĐIỆP  ·  Kết quả phải nêu giới hạn môi trường, phạm vi đo và mức xác nhận thực tế.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221992"/>
            <a:ext cx="11009376" cy="621792"/>
          </a:xfrm>
          <a:prstGeom prst="roundRect">
            <a:avLst/>
          </a:prstGeom>
          <a:solidFill>
            <a:srgbClr val="EAF0FF"/>
          </a:solidFill>
          <a:ln w="10160">
            <a:solidFill>
              <a:srgbClr val="EA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2221992"/>
            <a:ext cx="73152" cy="621792"/>
          </a:xfrm>
          <a:prstGeom prst="rect">
            <a:avLst/>
          </a:prstGeom>
          <a:solidFill>
            <a:srgbClr val="4C78E8"/>
          </a:solidFill>
          <a:ln w="10160">
            <a:solidFill>
              <a:srgbClr val="4C7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2258568"/>
            <a:ext cx="10698480" cy="539496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01  Nhiệt độ: VM có thể thiếu cảm biến; demo không phải đo phần cứng.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935224"/>
            <a:ext cx="11009376" cy="621792"/>
          </a:xfrm>
          <a:prstGeom prst="roundRect">
            <a:avLst/>
          </a:prstGeom>
          <a:solidFill>
            <a:srgbClr val="FFF3DF"/>
          </a:solidFill>
          <a:ln w="10160">
            <a:solidFill>
              <a:srgbClr val="FF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" y="2935224"/>
            <a:ext cx="73152" cy="621792"/>
          </a:xfrm>
          <a:prstGeom prst="rect">
            <a:avLst/>
          </a:prstGeom>
          <a:solidFill>
            <a:srgbClr val="E7A23B"/>
          </a:solidFill>
          <a:ln w="10160">
            <a:solidFill>
              <a:srgbClr val="E7A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2971800"/>
            <a:ext cx="10698480" cy="539496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4243A"/>
                </a:solidFill>
                <a:latin typeface="Aptos"/>
              </a:rPr>
              <a:t>02  Lịch sử: SQLite lưu state/outbox, không phải kho thời gian-series.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648456"/>
            <a:ext cx="11009376" cy="621792"/>
          </a:xfrm>
          <a:prstGeom prst="roundRect">
            <a:avLst/>
          </a:prstGeom>
          <a:solidFill>
            <a:srgbClr val="E7F6F3"/>
          </a:solidFill>
          <a:ln w="10160">
            <a:solidFill>
              <a:srgbClr val="E7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648456"/>
            <a:ext cx="73152" cy="621792"/>
          </a:xfrm>
          <a:prstGeom prst="rect">
            <a:avLst/>
          </a:prstGeom>
          <a:solidFill>
            <a:srgbClr val="15A995"/>
          </a:solidFill>
          <a:ln w="10160">
            <a:solidFill>
              <a:srgbClr val="15A9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3685032"/>
            <a:ext cx="10698480" cy="539496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4243A"/>
                </a:solidFill>
                <a:latin typeface="Aptos"/>
              </a:rPr>
              <a:t>03  Cùng máy: Windows tắt/ngủ có thể làm monitor và VM cùng dừng.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4462272"/>
            <a:ext cx="11009376" cy="15727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FE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517136"/>
            <a:ext cx="10607040" cy="301752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87C71"/>
                </a:solidFill>
                <a:latin typeface="Aptos"/>
              </a:rPr>
              <a:t>GỢI Ý TRỰC QUAN  ·  BỐN KHỐI GIỚI HẠN KỸ THUẬT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4983" y="4892040"/>
            <a:ext cx="3176016" cy="1005840"/>
          </a:xfrm>
          <a:prstGeom prst="roundRect">
            <a:avLst/>
          </a:prstGeom>
          <a:solidFill>
            <a:srgbClr val="EAF0FF"/>
          </a:solidFill>
          <a:ln w="10160">
            <a:solidFill>
              <a:srgbClr val="4C7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8136" y="4965192"/>
            <a:ext cx="3029711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NHIỆT ĐỘ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" y="5376672"/>
            <a:ext cx="3029711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07086"/>
                </a:solidFill>
                <a:latin typeface="Aptos"/>
              </a:rPr>
              <a:t>VM THIẾU SENSOR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227576" y="5394959"/>
            <a:ext cx="246887" cy="0"/>
          </a:xfrm>
          <a:prstGeom prst="line">
            <a:avLst/>
          </a:prstGeom>
          <a:ln w="27940">
            <a:solidFill>
              <a:srgbClr val="4C7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511040" y="4892040"/>
            <a:ext cx="3176016" cy="1005840"/>
          </a:xfrm>
          <a:prstGeom prst="roundRect">
            <a:avLst/>
          </a:prstGeom>
          <a:solidFill>
            <a:srgbClr val="FFF3DF"/>
          </a:solidFill>
          <a:ln w="10160">
            <a:solidFill>
              <a:srgbClr val="E7A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84192" y="4965192"/>
            <a:ext cx="3029711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LỊCH SỬ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84192" y="5376672"/>
            <a:ext cx="3029711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07086"/>
                </a:solidFill>
                <a:latin typeface="Aptos"/>
              </a:rPr>
              <a:t>SQLITE / STATE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723631" y="5394959"/>
            <a:ext cx="246889" cy="0"/>
          </a:xfrm>
          <a:prstGeom prst="line">
            <a:avLst/>
          </a:prstGeom>
          <a:ln w="27940">
            <a:solidFill>
              <a:srgbClr val="E7A2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007095" y="4892040"/>
            <a:ext cx="3176016" cy="1005840"/>
          </a:xfrm>
          <a:prstGeom prst="roundRect">
            <a:avLst/>
          </a:prstGeom>
          <a:solidFill>
            <a:srgbClr val="E5F3EC"/>
          </a:solidFill>
          <a:ln w="10160">
            <a:solidFill>
              <a:srgbClr val="268D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80247" y="4965192"/>
            <a:ext cx="3029711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MÁY CHỦ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80247" y="5376672"/>
            <a:ext cx="3029711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07086"/>
                </a:solidFill>
                <a:latin typeface="Aptos"/>
              </a:rPr>
              <a:t>HOST TẮT → DỪNG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4360" y="6163056"/>
            <a:ext cx="11009376" cy="484632"/>
          </a:xfrm>
          <a:prstGeom prst="roundRect">
            <a:avLst/>
          </a:prstGeom>
          <a:solidFill>
            <a:srgbClr val="14243A"/>
          </a:solidFill>
          <a:ln w="10160">
            <a:solidFill>
              <a:srgbClr val="14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6190488"/>
            <a:ext cx="10680192" cy="420624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ptos"/>
              </a:rPr>
              <a:t>PHẠM VI  Một thiết bị / tiến trình / state file theo cấu hình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5A995"/>
          </a:solidFill>
          <a:ln w="10160">
            <a:solidFill>
              <a:srgbClr val="15A9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85216" y="228600"/>
            <a:ext cx="8046720" cy="347472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87C71"/>
                </a:solidFill>
                <a:latin typeface="Aptos"/>
              </a:rPr>
              <a:t>QTMNC  /  KẾT LUẬN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72" y="621792"/>
            <a:ext cx="10058400" cy="603504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4243A"/>
                </a:solidFill>
                <a:latin typeface="Aptos"/>
              </a:rPr>
              <a:t>Kết luận và hành động tiếp theo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835640" y="603504"/>
            <a:ext cx="768096" cy="502920"/>
          </a:xfrm>
          <a:prstGeom prst="roundRect">
            <a:avLst/>
          </a:prstGeom>
          <a:solidFill>
            <a:srgbClr val="14243A"/>
          </a:solidFill>
          <a:ln w="10160">
            <a:solidFill>
              <a:srgbClr val="14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63072" y="640080"/>
            <a:ext cx="713232" cy="420624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ptos"/>
              </a:rPr>
              <a:t>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353312"/>
            <a:ext cx="11009376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FE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417320"/>
            <a:ext cx="10680192" cy="621792"/>
          </a:xfrm>
          <a:prstGeom prst="rect">
            <a:avLst/>
          </a:prstGeom>
          <a:noFill/>
        </p:spPr>
        <p:txBody>
          <a:bodyPr wrap="square" anchor="ctr" lIns="36576" rIns="36576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THÔNG ĐIỆP  ·  Mô hình chứng minh được vòng giám sát end-to-end khi hoàn tất nghiệm thu collector, đường truyền và kênh nhận tin.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221992"/>
            <a:ext cx="11009376" cy="621792"/>
          </a:xfrm>
          <a:prstGeom prst="roundRect">
            <a:avLst/>
          </a:prstGeom>
          <a:solidFill>
            <a:srgbClr val="EAF0FF"/>
          </a:solidFill>
          <a:ln w="10160">
            <a:solidFill>
              <a:srgbClr val="EA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2221992"/>
            <a:ext cx="73152" cy="621792"/>
          </a:xfrm>
          <a:prstGeom prst="rect">
            <a:avLst/>
          </a:prstGeom>
          <a:solidFill>
            <a:srgbClr val="4C78E8"/>
          </a:solidFill>
          <a:ln w="10160">
            <a:solidFill>
              <a:srgbClr val="4C7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2258568"/>
            <a:ext cx="10698480" cy="539496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01  Chạy lab: Xác nhận TAP/GNS3 và khôi phục Test-NetConnection TCP/22.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935224"/>
            <a:ext cx="11009376" cy="621792"/>
          </a:xfrm>
          <a:prstGeom prst="roundRect">
            <a:avLst/>
          </a:prstGeom>
          <a:solidFill>
            <a:srgbClr val="FFF3DF"/>
          </a:solidFill>
          <a:ln w="10160">
            <a:solidFill>
              <a:srgbClr val="FF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" y="2935224"/>
            <a:ext cx="73152" cy="621792"/>
          </a:xfrm>
          <a:prstGeom prst="rect">
            <a:avLst/>
          </a:prstGeom>
          <a:solidFill>
            <a:srgbClr val="E7A23B"/>
          </a:solidFill>
          <a:ln w="10160">
            <a:solidFill>
              <a:srgbClr val="E7A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2971800"/>
            <a:ext cx="10698480" cy="539496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4243A"/>
                </a:solidFill>
                <a:latin typeface="Aptos"/>
              </a:rPr>
              <a:t>02  Nghiệm thu: Chạy các ca ens33, CPU/RAM, mất SSH và phục hồi.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648456"/>
            <a:ext cx="11009376" cy="621792"/>
          </a:xfrm>
          <a:prstGeom prst="roundRect">
            <a:avLst/>
          </a:prstGeom>
          <a:solidFill>
            <a:srgbClr val="E7F6F3"/>
          </a:solidFill>
          <a:ln w="10160">
            <a:solidFill>
              <a:srgbClr val="E7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648456"/>
            <a:ext cx="73152" cy="621792"/>
          </a:xfrm>
          <a:prstGeom prst="rect">
            <a:avLst/>
          </a:prstGeom>
          <a:solidFill>
            <a:srgbClr val="15A995"/>
          </a:solidFill>
          <a:ln w="10160">
            <a:solidFill>
              <a:srgbClr val="15A9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3685032"/>
            <a:ext cx="10698480" cy="539496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4243A"/>
                </a:solidFill>
                <a:latin typeface="Aptos"/>
              </a:rPr>
              <a:t>03  Báo cáo: Ghi rõ SSH đã dùng; chỉ tuyên bố SNMP/Telegram khi đã đo thật.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4462272"/>
            <a:ext cx="11009376" cy="15727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FE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517136"/>
            <a:ext cx="10607040" cy="301752"/>
          </a:xfrm>
          <a:prstGeom prst="rect">
            <a:avLst/>
          </a:prstGeom>
          <a:noFill/>
        </p:spPr>
        <p:txBody>
          <a:bodyPr wrap="square" anchor="ctr" lIns="9144" rIns="9144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87C71"/>
                </a:solidFill>
                <a:latin typeface="Aptos"/>
              </a:rPr>
              <a:t>GỢI Ý TRỰC QUAN  ·  LỘ TRÌNH 5 BƯỚC NGHIỆM THU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4983" y="4892040"/>
            <a:ext cx="2370582" cy="1005840"/>
          </a:xfrm>
          <a:prstGeom prst="roundRect">
            <a:avLst/>
          </a:prstGeom>
          <a:solidFill>
            <a:srgbClr val="EAF0FF"/>
          </a:solidFill>
          <a:ln w="10160">
            <a:solidFill>
              <a:srgbClr val="4C7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8136" y="4965192"/>
            <a:ext cx="2224277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1 · MẠNG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" y="5376672"/>
            <a:ext cx="2224277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07086"/>
                </a:solidFill>
                <a:latin typeface="Aptos"/>
              </a:rPr>
              <a:t>KHÔI PHỤC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422141" y="5394959"/>
            <a:ext cx="155448" cy="0"/>
          </a:xfrm>
          <a:prstGeom prst="line">
            <a:avLst/>
          </a:prstGeom>
          <a:ln w="27940">
            <a:solidFill>
              <a:srgbClr val="4C7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3614165" y="4892040"/>
            <a:ext cx="2370582" cy="1005840"/>
          </a:xfrm>
          <a:prstGeom prst="roundRect">
            <a:avLst/>
          </a:prstGeom>
          <a:solidFill>
            <a:srgbClr val="FFF3DF"/>
          </a:solidFill>
          <a:ln w="10160">
            <a:solidFill>
              <a:srgbClr val="E7A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87318" y="4965192"/>
            <a:ext cx="2224277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2 · SSH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87318" y="5376672"/>
            <a:ext cx="2224277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07086"/>
                </a:solidFill>
                <a:latin typeface="Aptos"/>
              </a:rPr>
              <a:t>XÁC NHẬN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021324" y="5394959"/>
            <a:ext cx="155448" cy="0"/>
          </a:xfrm>
          <a:prstGeom prst="line">
            <a:avLst/>
          </a:prstGeom>
          <a:ln w="27940">
            <a:solidFill>
              <a:srgbClr val="E7A2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213348" y="4892040"/>
            <a:ext cx="2370582" cy="1005840"/>
          </a:xfrm>
          <a:prstGeom prst="roundRect">
            <a:avLst/>
          </a:prstGeom>
          <a:solidFill>
            <a:srgbClr val="E5F3EC"/>
          </a:solidFill>
          <a:ln w="10160">
            <a:solidFill>
              <a:srgbClr val="268D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86500" y="4965192"/>
            <a:ext cx="2224277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3 · COLLECTOR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6500" y="5376672"/>
            <a:ext cx="2224277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07086"/>
                </a:solidFill>
                <a:latin typeface="Aptos"/>
              </a:rPr>
              <a:t>CHẠY THẬT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620505" y="5394959"/>
            <a:ext cx="155449" cy="0"/>
          </a:xfrm>
          <a:prstGeom prst="line">
            <a:avLst/>
          </a:prstGeom>
          <a:ln w="27940">
            <a:solidFill>
              <a:srgbClr val="268D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812530" y="4892040"/>
            <a:ext cx="2370582" cy="1005840"/>
          </a:xfrm>
          <a:prstGeom prst="roundRect">
            <a:avLst/>
          </a:prstGeom>
          <a:solidFill>
            <a:srgbClr val="E7F6F3"/>
          </a:solidFill>
          <a:ln w="10160">
            <a:solidFill>
              <a:srgbClr val="15A9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85682" y="4965192"/>
            <a:ext cx="2224277" cy="393192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43A"/>
                </a:solidFill>
                <a:latin typeface="Aptos"/>
              </a:rPr>
              <a:t>4 · ALERT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85682" y="5376672"/>
            <a:ext cx="2224277" cy="457200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07086"/>
                </a:solidFill>
                <a:latin typeface="Aptos"/>
              </a:rPr>
              <a:t>NGHIỆM THU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6163056"/>
            <a:ext cx="11009376" cy="484632"/>
          </a:xfrm>
          <a:prstGeom prst="roundRect">
            <a:avLst/>
          </a:prstGeom>
          <a:solidFill>
            <a:srgbClr val="14243A"/>
          </a:solidFill>
          <a:ln w="10160">
            <a:solidFill>
              <a:srgbClr val="14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9808" y="6190488"/>
            <a:ext cx="10680192" cy="420624"/>
          </a:xfrm>
          <a:prstGeom prst="rect">
            <a:avLst/>
          </a:prstGeom>
          <a:noFill/>
        </p:spPr>
        <p:txBody>
          <a:bodyPr wrap="square" anchor="ctr" lIns="22860" rIns="22860" tIns="13716" bIns="1371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ptos"/>
              </a:rPr>
              <a:t>THÀNH CÔNG  Cảnh báo đúng · phục hồi đúng · không spam · secret an toàn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Hệ thống giám sát thiết bị và cảnh báo Telegram/Slack</dc:title>
  <dc:subject>Dàn ý thuyết trình Executive 22 slide · Windows/GNS3/Ubuntu</dc:subject>
  <dc:creator>QTMNC</dc:creator>
  <cp:keywords>GNS3, SSH, SNMP, Telegram, Slack, Ubuntu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