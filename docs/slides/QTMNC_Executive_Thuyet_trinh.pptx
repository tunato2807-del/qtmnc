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566928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9E7DA"/>
                </a:solidFill>
                <a:latin typeface="Aptos"/>
              </a:rPr>
              <a:t>QTMNC  /  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78408"/>
            <a:ext cx="10789920" cy="10607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Giám sát thiết bị và cảnh báo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03120"/>
            <a:ext cx="1060704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CD6E2"/>
                </a:solidFill>
                <a:latin typeface="Aptos"/>
              </a:rPr>
              <a:t>Từ dữ liệu thiết bị đến cảnh báo có thể hành động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0632"/>
            <a:ext cx="10735056" cy="731520"/>
          </a:xfrm>
          <a:prstGeom prst="roundRect">
            <a:avLst/>
          </a:prstGeom>
          <a:solidFill>
            <a:srgbClr val="1B3552"/>
          </a:solidFill>
          <a:ln w="10160">
            <a:solidFill>
              <a:srgbClr val="30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52928"/>
            <a:ext cx="2194560" cy="182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E7DA"/>
                </a:solidFill>
                <a:latin typeface="Aptos"/>
              </a:rPr>
              <a:t>THÔNG ĐIỆP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72384"/>
            <a:ext cx="10177272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FFFFFF"/>
                </a:solidFill>
                <a:latin typeface="Aptos"/>
              </a:rPr>
              <a:t>Windows chạy Python kiểm tra Ubuntu định kỳ; khi trạng thái đổi, hệ thống gửi cảnh báo Telegram/Slack.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886200"/>
            <a:ext cx="3401568" cy="777240"/>
          </a:xfrm>
          <a:prstGeom prst="roundRect">
            <a:avLst/>
          </a:prstGeom>
          <a:solidFill>
            <a:srgbClr val="1B3552"/>
          </a:solidFill>
          <a:ln w="10160">
            <a:solidFill>
              <a:srgbClr val="30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59352"/>
            <a:ext cx="3072384" cy="2011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E7DA"/>
                </a:solidFill>
                <a:latin typeface="Aptos"/>
              </a:rPr>
              <a:t>ĐỐI TƯỢNG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178808"/>
            <a:ext cx="3072384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Ubuntu VMware; theo dõi CPU, RAM, nhiệt độ và interface.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3886200"/>
            <a:ext cx="3401568" cy="777240"/>
          </a:xfrm>
          <a:prstGeom prst="roundRect">
            <a:avLst/>
          </a:prstGeom>
          <a:solidFill>
            <a:srgbClr val="1B3552"/>
          </a:solidFill>
          <a:ln w="10160">
            <a:solidFill>
              <a:srgbClr val="30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3959352"/>
            <a:ext cx="3072384" cy="2011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E7DA"/>
                </a:solidFill>
                <a:latin typeface="Aptos"/>
              </a:rPr>
              <a:t>ĐƯỜNG CHÍNH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4178808"/>
            <a:ext cx="3072384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SSH qua GNS3; bản đơn giản chờ 5 giây sau mỗi lượt đọc.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3886200"/>
            <a:ext cx="3401568" cy="777240"/>
          </a:xfrm>
          <a:prstGeom prst="roundRect">
            <a:avLst/>
          </a:prstGeom>
          <a:solidFill>
            <a:srgbClr val="1B3552"/>
          </a:solidFill>
          <a:ln w="10160">
            <a:solidFill>
              <a:srgbClr val="30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959352"/>
            <a:ext cx="3072384" cy="2011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E7DA"/>
                </a:solidFill>
                <a:latin typeface="Aptos"/>
              </a:rPr>
              <a:t>MỞ RỘNG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4178808"/>
            <a:ext cx="3072384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SNMP/hybrid; gửi cảnh báo qua HTTPS tới Telegram/Slack.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5239512"/>
            <a:ext cx="2345436" cy="704088"/>
          </a:xfrm>
          <a:prstGeom prst="roundRect">
            <a:avLst/>
          </a:prstGeom>
          <a:solidFill>
            <a:srgbClr val="22375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5285232"/>
            <a:ext cx="2180844" cy="6126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Aptos"/>
              </a:rPr>
              <a:t>WINDOWS
Python / VS Code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50108" y="5591556"/>
            <a:ext cx="365760" cy="0"/>
          </a:xfrm>
          <a:prstGeom prst="line">
            <a:avLst/>
          </a:prstGeom>
          <a:ln w="20320">
            <a:solidFill>
              <a:srgbClr val="89A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552444" y="5239512"/>
            <a:ext cx="2345436" cy="704088"/>
          </a:xfrm>
          <a:prstGeom prst="roundRect">
            <a:avLst/>
          </a:prstGeom>
          <a:solidFill>
            <a:srgbClr val="3D342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4739" y="5285232"/>
            <a:ext cx="2180844" cy="6126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Aptos"/>
              </a:rPr>
              <a:t>GNS3
Mạng thử nghiệm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34455" y="5591556"/>
            <a:ext cx="365761" cy="0"/>
          </a:xfrm>
          <a:prstGeom prst="line">
            <a:avLst/>
          </a:prstGeom>
          <a:ln w="20320">
            <a:solidFill>
              <a:srgbClr val="89A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36792" y="5239512"/>
            <a:ext cx="2345436" cy="704088"/>
          </a:xfrm>
          <a:prstGeom prst="roundRect">
            <a:avLst/>
          </a:prstGeom>
          <a:solidFill>
            <a:srgbClr val="243D34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5285232"/>
            <a:ext cx="2180844" cy="6126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Aptos"/>
              </a:rPr>
              <a:t>UBUNTU VM
Thiết bị đích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8803" y="5591556"/>
            <a:ext cx="365761" cy="0"/>
          </a:xfrm>
          <a:prstGeom prst="line">
            <a:avLst/>
          </a:prstGeom>
          <a:ln w="20320">
            <a:solidFill>
              <a:srgbClr val="89A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21140" y="5239512"/>
            <a:ext cx="2345436" cy="704088"/>
          </a:xfrm>
          <a:prstGeom prst="roundRect">
            <a:avLst/>
          </a:prstGeom>
          <a:solidFill>
            <a:srgbClr val="203E40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03436" y="5285232"/>
            <a:ext cx="2180844" cy="6126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Aptos"/>
              </a:rPr>
              <a:t>Telegram
Slack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6272784"/>
            <a:ext cx="1033272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FC0D0"/>
                </a:solidFill>
                <a:latin typeface="Aptos"/>
              </a:rPr>
              <a:t>BẢN ĐƠN GIẢN ĐANG DÙNG SSH  ·  SNMP/HYBRID LÀ PROFILE MỞ RỘNG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49224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FC0D0"/>
                </a:solidFill>
                <a:latin typeface="Aptos"/>
              </a:rPr>
              <a:t>01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BỐI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Bối cảnh và mục tiêu hệ thống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Giải pháp biến số liệu thiết bị thành cảnh báo và bằng chứng xử lý sự cố có thể trình diễn.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Vấn đề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Lỗi CPU, bộ nhớ, nhiệt độ hoặc interface có thể bị phát hiện muộn.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Mục tiêu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Kiểm tra có lịch; phát hiện chuyển trạng thái; báo người quản trị.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Phạm 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Một Windows giám sát Ubuntu VM qua mạng GNS3 hiện có.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ĐẦU RA  Dashboard · cảnh báo lỗi/phục hồi · hàng đợi tin chưa gửi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" y="4233672"/>
            <a:ext cx="3154679" cy="749808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4279392"/>
            <a:ext cx="2990087" cy="65836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4243A"/>
                </a:solidFill>
                <a:latin typeface="Aptos"/>
              </a:rPr>
              <a:t>THIẾT BỊ
Tài nguyên / mạng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42232" y="4608576"/>
            <a:ext cx="338328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17136" y="4233672"/>
            <a:ext cx="3154679" cy="749808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1" y="4279392"/>
            <a:ext cx="2990087" cy="65836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4243A"/>
                </a:solidFill>
                <a:latin typeface="Aptos"/>
              </a:rPr>
              <a:t>PYTHON
Đọc và đánh giá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8391" y="4608576"/>
            <a:ext cx="338328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83296" y="4233672"/>
            <a:ext cx="3154679" cy="749808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5592" y="4279392"/>
            <a:ext cx="2990087" cy="65836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4243A"/>
                </a:solidFill>
                <a:latin typeface="Aptos"/>
              </a:rPr>
              <a:t>NGƯỜI QUẢN TRỊ
Nhận thông báo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README.md · docs/ARCHITECTURE.md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Kiến trúc tổng thể giải pháp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Thu thập, đánh giá, lưu trữ và gửi tin là các bước tách biệt trong cùng một ứng dụng.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Máy giám sát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Windows chạy monitor.py và bảng Rich trong Terminal.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Thiết bị đích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Ubuntu trả số liệu qua SSH; SNMP là collector mở rộng.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Kênh gửi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Luồng gửi riêng chuyển tin qua Telegram Bot API/Slack Webhook.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MÔ HÌNH  Python Windows → GNS3 → Ubuntu; HTTPS → dịch vụ nhắn tin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ARCHITECTURE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8136" y="4023360"/>
            <a:ext cx="3063240" cy="621792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4096512"/>
            <a:ext cx="2916936" cy="24871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Windows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328038"/>
            <a:ext cx="2898648" cy="23628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Python · monitor.py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28616" y="4023360"/>
            <a:ext cx="3063240" cy="621792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1768" y="4096512"/>
            <a:ext cx="2916936" cy="24871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GNS3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4328038"/>
            <a:ext cx="2898648" cy="23628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Cloud · Switch1 · Cloud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59952" y="4023360"/>
            <a:ext cx="3063240" cy="621792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096512"/>
            <a:ext cx="2916936" cy="24871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Ubuntu VM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2248" y="4328038"/>
            <a:ext cx="2898648" cy="23628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CPU · RAM · interface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215383" y="4343400"/>
            <a:ext cx="621793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055863" y="4343400"/>
            <a:ext cx="612649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362456" y="5175504"/>
            <a:ext cx="2697480" cy="512064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44752" y="5221224"/>
            <a:ext cx="2532888" cy="42062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43A"/>
                </a:solidFill>
                <a:latin typeface="Aptos"/>
              </a:rPr>
              <a:t>Đánh giá ngưỡng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02936" y="5175504"/>
            <a:ext cx="2697480" cy="512064"/>
          </a:xfrm>
          <a:prstGeom prst="roundRect">
            <a:avLst/>
          </a:prstGeom>
          <a:solidFill>
            <a:srgbClr val="F0ECFA"/>
          </a:solidFill>
          <a:ln w="10160">
            <a:solidFill>
              <a:srgbClr val="81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85231" y="5221224"/>
            <a:ext cx="2532888" cy="42062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43A"/>
                </a:solidFill>
                <a:latin typeface="Aptos"/>
              </a:rPr>
              <a:t>SQLite / outbox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5128" y="5175504"/>
            <a:ext cx="2697480" cy="512064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07424" y="5221224"/>
            <a:ext cx="2532888" cy="42062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43A"/>
                </a:solidFill>
                <a:latin typeface="Aptos"/>
              </a:rPr>
              <a:t>Telegram / Slack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596896" y="4672583"/>
            <a:ext cx="0" cy="347473"/>
          </a:xfrm>
          <a:prstGeom prst="line">
            <a:avLst/>
          </a:prstGeom>
          <a:ln w="20320">
            <a:solidFill>
              <a:srgbClr val="E7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151376" y="5422392"/>
            <a:ext cx="932688" cy="0"/>
          </a:xfrm>
          <a:prstGeom prst="line">
            <a:avLst/>
          </a:prstGeom>
          <a:ln w="20320">
            <a:solidFill>
              <a:srgbClr val="816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909560" y="5422392"/>
            <a:ext cx="978408" cy="0"/>
          </a:xfrm>
          <a:prstGeom prst="line">
            <a:avLst/>
          </a:prstGeom>
          <a:ln w="20320">
            <a:solidFill>
              <a:srgbClr val="15A9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docs/ARCHITECTURE.md · docs/truc_quan/README.md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THÀNH PHẦN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Thiết bị và công cụ thực hành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Mỗi thiết bị đảm nhiệm một vai trò; chỉ Ubuntu là đối tượng lấy CPU/RAM trong lab hiện tại.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Máy thật; chạy VS Code, Python, cấu hình và gửi cảnh báo.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VMware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Cấp CPU/RAM ảo, Ubuntu và các card mạng cho thiết bị đích.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GNS3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Hai Cloud và Switch1 chuyển tiếp mạng; không tự đo tài nguyên.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ĐỐI TƯỢNG ĐO  Số CPU/RAM lấy từ Ubuntu VM, không phải toàn Windows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ROLES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" y="4187952"/>
            <a:ext cx="2487168" cy="109728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261104"/>
            <a:ext cx="2340864" cy="43891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243A"/>
                </a:solidFill>
                <a:latin typeface="Aptos"/>
              </a:rPr>
              <a:t>01  MÁY THẬT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4725619"/>
            <a:ext cx="2322576" cy="41696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07086"/>
                </a:solidFill>
                <a:latin typeface="Aptos"/>
              </a:rPr>
              <a:t>Windows · VS Code
Python + Internet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502152" y="4736592"/>
            <a:ext cx="237744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794760" y="4187952"/>
            <a:ext cx="2487168" cy="1097280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67912" y="4261104"/>
            <a:ext cx="2340864" cy="43891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243A"/>
                </a:solidFill>
                <a:latin typeface="Aptos"/>
              </a:rPr>
              <a:t>02  MẠNG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77056" y="4725619"/>
            <a:ext cx="2322576" cy="41696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07086"/>
                </a:solidFill>
                <a:latin typeface="Aptos"/>
              </a:rPr>
              <a:t>GNS3 Cloud + Switch
VMware VMnet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18504" y="4736592"/>
            <a:ext cx="237744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611112" y="4187952"/>
            <a:ext cx="2487168" cy="1097280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84264" y="4261104"/>
            <a:ext cx="2340864" cy="43891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243A"/>
                </a:solidFill>
                <a:latin typeface="Aptos"/>
              </a:rPr>
              <a:t>03  MÁY ĐÍCH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4725619"/>
            <a:ext cx="2322576" cy="41696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07086"/>
                </a:solidFill>
                <a:latin typeface="Aptos"/>
              </a:rPr>
              <a:t>Ubuntu VM
Linux /proc + /sys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34856" y="4736592"/>
            <a:ext cx="237744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427464" y="4187952"/>
            <a:ext cx="2487168" cy="1097280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0616" y="4261104"/>
            <a:ext cx="2340864" cy="43891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243A"/>
                </a:solidFill>
                <a:latin typeface="Aptos"/>
              </a:rPr>
              <a:t>04  NGƯỜI NHẬN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4725619"/>
            <a:ext cx="2322576" cy="41696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07086"/>
                </a:solidFill>
                <a:latin typeface="Aptos"/>
              </a:rPr>
              <a:t>Telegram / Slack
Ứng dụng điện thoại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" y="5641848"/>
            <a:ext cx="10012680" cy="2377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07086"/>
                </a:solidFill>
                <a:latin typeface="Aptos"/>
              </a:rPr>
              <a:t>Đo chỉ số: Ubuntu     •     Đánh giá/gửi tin: Windows     •     Chuyển tiếp: GNS3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docs/GNS3_LAB.md · docs/truc_quan/README.md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MẠNG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Mô hình mạng hiện tại trên GNS3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Đường giám sát dùng subnet 192.168.10.0/24; ens37 quản trị và ens33 là interface theo dõi.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Card TAP Local Area Connection: 192.168.10.1/24.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Đường SSH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Cloud-WINDOWS → Switch1 → Cloud-LINUX/VMnet2 → ens37.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Interface đo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ens33 NAT; đã ghi nhận 192.168.73.129/24, gateway .73.2.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SSH ĐÍCH  192.168.10.129:22  ·  ens37 192.168.10.129/24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NETWORK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" y="4078224"/>
            <a:ext cx="2103120" cy="530352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4151376"/>
            <a:ext cx="1956815" cy="21214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43A"/>
                </a:solidFill>
                <a:latin typeface="Aptos"/>
              </a:rPr>
              <a:t>Windows TAP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4338096"/>
            <a:ext cx="1938527" cy="201533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192.168.10.1/24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" y="4782312"/>
            <a:ext cx="2103120" cy="530352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" y="4855464"/>
            <a:ext cx="1956815" cy="21214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43A"/>
                </a:solidFill>
                <a:latin typeface="Aptos"/>
              </a:rPr>
              <a:t>UDP helper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042184"/>
            <a:ext cx="1938527" cy="201533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127.0.0.1:30011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956815" y="4636008"/>
            <a:ext cx="0" cy="100584"/>
          </a:xfrm>
          <a:prstGeom prst="line">
            <a:avLst/>
          </a:prstGeom>
          <a:ln w="20320">
            <a:solidFill>
              <a:srgbClr val="4C7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511296" y="4087368"/>
            <a:ext cx="2331720" cy="502920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84448" y="4160520"/>
            <a:ext cx="2185415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4243A"/>
                </a:solidFill>
                <a:latin typeface="Aptos"/>
              </a:rPr>
              <a:t>Cloud-WINDOWS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93591" y="4333798"/>
            <a:ext cx="2167127" cy="191109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UDP local 30010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11296" y="4754880"/>
            <a:ext cx="2331720" cy="502920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84448" y="4828032"/>
            <a:ext cx="2185415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4243A"/>
                </a:solidFill>
                <a:latin typeface="Aptos"/>
              </a:rPr>
              <a:t>Switch1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93591" y="5001310"/>
            <a:ext cx="2167127" cy="191109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Hai port access VLAN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11296" y="5422392"/>
            <a:ext cx="2331720" cy="502920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84448" y="5495544"/>
            <a:ext cx="2185415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4243A"/>
                </a:solidFill>
                <a:latin typeface="Aptos"/>
              </a:rPr>
              <a:t>Cloud-LINUX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3591" y="5668822"/>
            <a:ext cx="2167127" cy="191109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VMware VMnet2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677156" y="4608576"/>
            <a:ext cx="0" cy="100584"/>
          </a:xfrm>
          <a:prstGeom prst="line">
            <a:avLst/>
          </a:prstGeom>
          <a:ln w="20320">
            <a:solidFill>
              <a:srgbClr val="E7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677156" y="5276088"/>
            <a:ext cx="0" cy="100584"/>
          </a:xfrm>
          <a:prstGeom prst="line">
            <a:avLst/>
          </a:prstGeom>
          <a:ln w="20320">
            <a:solidFill>
              <a:srgbClr val="E7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254496" y="4142232"/>
            <a:ext cx="2377440" cy="713232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4215384"/>
            <a:ext cx="2231136" cy="28529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4243A"/>
                </a:solidFill>
                <a:latin typeface="Aptos"/>
              </a:rPr>
              <a:t>ens37 · QUẢN TRỊ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6792" y="4491715"/>
            <a:ext cx="2212848" cy="27102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192.168.10.129/24 · SSH 22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54496" y="5157216"/>
            <a:ext cx="2377440" cy="713232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5230368"/>
            <a:ext cx="2231136" cy="28529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4243A"/>
                </a:solidFill>
                <a:latin typeface="Aptos"/>
              </a:rPr>
              <a:t>ens33 · THEO DÕI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36792" y="5506699"/>
            <a:ext cx="2212848" cy="27102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NAT .73.129/24* · VMnet8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5879592" y="4498848"/>
            <a:ext cx="265176" cy="1170431"/>
          </a:xfrm>
          <a:prstGeom prst="line">
            <a:avLst/>
          </a:prstGeom>
          <a:ln w="20320">
            <a:solidFill>
              <a:srgbClr val="26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226296" y="4572000"/>
            <a:ext cx="2011680" cy="768096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99448" y="4645152"/>
            <a:ext cx="1865376" cy="30723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243A"/>
                </a:solidFill>
                <a:latin typeface="Aptos"/>
              </a:rPr>
              <a:t>Internet Windows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08592" y="4948367"/>
            <a:ext cx="1847088" cy="29187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HTTPS → Telegram/Slack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044952" y="4334256"/>
            <a:ext cx="393192" cy="0"/>
          </a:xfrm>
          <a:prstGeom prst="line">
            <a:avLst/>
          </a:prstGeom>
          <a:ln w="20320">
            <a:solidFill>
              <a:srgbClr val="4C7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044952" y="5010912"/>
            <a:ext cx="393192" cy="36576"/>
          </a:xfrm>
          <a:prstGeom prst="line">
            <a:avLst/>
          </a:prstGeom>
          <a:ln w="20320">
            <a:solidFill>
              <a:srgbClr val="4C7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50976" y="6089904"/>
            <a:ext cx="10287000" cy="182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07086"/>
                </a:solidFill>
                <a:latin typeface="Aptos"/>
              </a:rPr>
              <a:t>* Địa chỉ DHCP đã ghi nhận; có thể thay đổi. TAP/helper là hạ tầng kết nối, không phải chức năng giám sát.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WINDOWS_TAP_GNS3.md · docs/truc_quan/README.md · kết quả người dùng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MẠNG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Đường SSH và vai trò TAP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TAP/UDP chỉ nối Windows vào lab GNS3 hiện tại; SSH mới vận chuyển yêu cầu lấy số liệu.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Phiên TCP/22 được thiết lập từ Windows tới Ubuntu .10.129.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Cầu nối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TAP-Windows + UDP localhost đưa Ethernet vào Cloud GNS3.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Phạm 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TAP không đo CPU/RAM, không đánh giá và không gửi cảnh báo.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UDP CẦU NỐI  Cloud local 30010 ↔ helper 127.0.0.1:30011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TAPPATH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5" y="4215383"/>
            <a:ext cx="2219706" cy="82296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4288536"/>
            <a:ext cx="2073402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43A"/>
                </a:solidFill>
                <a:latin typeface="Aptos"/>
              </a:rPr>
              <a:t>Python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618634"/>
            <a:ext cx="2055114" cy="31272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Yêu cầu SSH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52978" y="4626864"/>
            <a:ext cx="365760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55314" y="4215383"/>
            <a:ext cx="2219706" cy="82296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28465" y="4288536"/>
            <a:ext cx="2073402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43A"/>
                </a:solidFill>
                <a:latin typeface="Aptos"/>
              </a:rPr>
              <a:t>TAP + UDP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7610" y="4618634"/>
            <a:ext cx="2055114" cy="31272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Chuyển frame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11596" y="4626864"/>
            <a:ext cx="365760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313932" y="4215383"/>
            <a:ext cx="2219706" cy="822960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7084" y="4288536"/>
            <a:ext cx="2073402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43A"/>
                </a:solidFill>
                <a:latin typeface="Aptos"/>
              </a:rPr>
              <a:t>Cloud + Switch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6228" y="4618634"/>
            <a:ext cx="2055114" cy="31272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GNS3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70213" y="4626864"/>
            <a:ext cx="365761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972550" y="4215383"/>
            <a:ext cx="2219706" cy="822960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45702" y="4288536"/>
            <a:ext cx="2073402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43A"/>
                </a:solidFill>
                <a:latin typeface="Aptos"/>
              </a:rPr>
              <a:t>ens37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4846" y="4618634"/>
            <a:ext cx="2055114" cy="31272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Ubuntu · TCP/22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5376672"/>
            <a:ext cx="9957816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07086"/>
                </a:solidFill>
                <a:latin typeface="Aptos"/>
              </a:rPr>
              <a:t>Lượt hỏi: Windows → Ubuntu      |      Kết quả: Ubuntu → Windows      |      HTTPS cảnh báo đi riêng qua Internet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WINDOWS_TAP_GNS3.md · tools/windows_tap_bridge.py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THU THẬP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Lựa chọn giao thức thu thập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SSH, SNMP và hybrid dùng các cách lấy số liệu khác nhau nhưng chung phần đánh giá và cảnh báo.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TCP/22; chạy lệnh Linux qua Paramiko; là bản đơn giản hiện dùng.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SNMP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UDP/161; hỏi agent bằng OID; cần agent và cấu hình tương ứng.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Hybrid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Ưu tiên SSH cho metric; ưu tiên SNMP cho interface; có dự phòng.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HYBRID  Mất từng dịch vụ vẫn hiển thị trạng thái; nguồn còn lại có thể tiếp tục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PROTOCOLS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0704" y="4059935"/>
            <a:ext cx="3169920" cy="1161288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" y="4133087"/>
            <a:ext cx="3023616" cy="46451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43A"/>
                </a:solidFill>
                <a:latin typeface="Aptos"/>
              </a:rPr>
              <a:t>SSH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628967"/>
            <a:ext cx="3005328" cy="441289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07086"/>
                </a:solidFill>
                <a:latin typeface="Aptos"/>
              </a:rPr>
              <a:t>TCP / 22
Lệnh trên thiết bị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6736" y="5404104"/>
            <a:ext cx="2657856" cy="27432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417820"/>
            <a:ext cx="2548128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4C78E8"/>
                </a:solidFill>
                <a:latin typeface="Aptos"/>
              </a:rPr>
              <a:t>Bản hiện đang chạy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04944" y="4059935"/>
            <a:ext cx="3169920" cy="1161288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8096" y="4133087"/>
            <a:ext cx="3023616" cy="46451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43A"/>
                </a:solidFill>
                <a:latin typeface="Aptos"/>
              </a:rPr>
              <a:t>SNMP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7240" y="4628967"/>
            <a:ext cx="3005328" cy="441289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07086"/>
                </a:solidFill>
                <a:latin typeface="Aptos"/>
              </a:rPr>
              <a:t>UDP / 161
Agent + OID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60976" y="5404104"/>
            <a:ext cx="2657856" cy="274320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15840" y="5417820"/>
            <a:ext cx="2548128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7A23B"/>
                </a:solidFill>
                <a:latin typeface="Aptos"/>
              </a:rPr>
              <a:t>Cần cài/cấu hình agent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49184" y="4059935"/>
            <a:ext cx="3169920" cy="1161288"/>
          </a:xfrm>
          <a:prstGeom prst="roundRect">
            <a:avLst/>
          </a:prstGeom>
          <a:solidFill>
            <a:srgbClr val="F0ECFA"/>
          </a:solidFill>
          <a:ln w="10160">
            <a:solidFill>
              <a:srgbClr val="81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2336" y="4133087"/>
            <a:ext cx="3023616" cy="46451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43A"/>
                </a:solidFill>
                <a:latin typeface="Aptos"/>
              </a:rPr>
              <a:t>HYBRID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1480" y="4628967"/>
            <a:ext cx="3005328" cy="441289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07086"/>
                </a:solidFill>
                <a:latin typeface="Aptos"/>
              </a:rPr>
              <a:t>SSH + SNMP
Nguồn ưu tiên/dự phòng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05215" y="5404104"/>
            <a:ext cx="2657856" cy="274320"/>
          </a:xfrm>
          <a:prstGeom prst="roundRect">
            <a:avLst/>
          </a:prstGeom>
          <a:solidFill>
            <a:srgbClr val="F0ECFA"/>
          </a:solidFill>
          <a:ln w="10160"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60080" y="5417820"/>
            <a:ext cx="2548128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8165C6"/>
                </a:solidFill>
                <a:latin typeface="Aptos"/>
              </a:rPr>
              <a:t>Collector mở rộng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device_monitor/collectors/{ssh,snmp,hybrid}.py · docs/ARCHITECTURE.md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PHẦN MỀM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Các module phần mềm chính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Các module tách thu thập, trạng thái và gửi cảnh báo để dễ giải thích và mở rộng.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Điểm vào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monitor.py điều phối cấu hình, SSH, bảng và vòng lặp.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Xử lý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Collectors lấy số liệu; engine quyết định OK/ALERT/UNKNOWN.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Đầu 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storage.py lưu SQLite; notifications.py gửi và retry.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MÃ CHÍNH  config → collectors → engine → storage → notifications → ui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MODULES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9848" y="4059935"/>
            <a:ext cx="3419856" cy="68580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133087"/>
            <a:ext cx="3273552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4243A"/>
                </a:solidFill>
                <a:latin typeface="Aptos"/>
              </a:rPr>
              <a:t>monitor.py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" y="4395977"/>
            <a:ext cx="3255264" cy="26060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086"/>
                </a:solidFill>
                <a:latin typeface="Aptos"/>
              </a:rPr>
              <a:t>Vòng đo / giao diện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059935"/>
            <a:ext cx="3419856" cy="68580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2312" y="4133087"/>
            <a:ext cx="3273552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4243A"/>
                </a:solidFill>
                <a:latin typeface="Aptos"/>
              </a:rPr>
              <a:t>collectors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1456" y="4395977"/>
            <a:ext cx="3255264" cy="26060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086"/>
                </a:solidFill>
                <a:latin typeface="Aptos"/>
              </a:rPr>
              <a:t>SSH · SNMP · hybrid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48472" y="4059935"/>
            <a:ext cx="3419856" cy="68580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21624" y="4133087"/>
            <a:ext cx="3273552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4243A"/>
                </a:solidFill>
                <a:latin typeface="Aptos"/>
              </a:rPr>
              <a:t>engine.py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4395977"/>
            <a:ext cx="3255264" cy="26060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086"/>
                </a:solidFill>
                <a:latin typeface="Aptos"/>
              </a:rPr>
              <a:t>Ngưỡng / trạng thái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9848" y="4946903"/>
            <a:ext cx="3419856" cy="685800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81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020055"/>
            <a:ext cx="3273552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4243A"/>
                </a:solidFill>
                <a:latin typeface="Aptos"/>
              </a:rPr>
              <a:t>storage.py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" y="5282945"/>
            <a:ext cx="3255264" cy="26060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086"/>
                </a:solidFill>
                <a:latin typeface="Aptos"/>
              </a:rPr>
              <a:t>SQLite / outbox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946903"/>
            <a:ext cx="3419856" cy="685800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82312" y="5020055"/>
            <a:ext cx="3273552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4243A"/>
                </a:solidFill>
                <a:latin typeface="Aptos"/>
              </a:rPr>
              <a:t>notifications.py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91456" y="5282945"/>
            <a:ext cx="3255264" cy="26060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086"/>
                </a:solidFill>
                <a:latin typeface="Aptos"/>
              </a:rPr>
              <a:t>Telegram / Slack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48472" y="4946903"/>
            <a:ext cx="3419856" cy="685800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1B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21624" y="5020055"/>
            <a:ext cx="3273552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4243A"/>
                </a:solidFill>
                <a:latin typeface="Aptos"/>
              </a:rPr>
              <a:t>ui.py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8" y="5282945"/>
            <a:ext cx="3255264" cy="26060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086"/>
                </a:solidFill>
                <a:latin typeface="Aptos"/>
              </a:rPr>
              <a:t>Bảng Rich Terminal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monitor.py · device_monitor/app.py · docs/ARCHITECTURE.md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CHỈ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Bốn chỉ số thiết bị cần theo dõi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Bản đơn giản thu thập bốn nhóm chỉ số trên Ubuntu; một chỉ số thiếu không phủ định các chỉ số khác.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Hai lần đọc /proc/stat; chênh lệch biểu thị thời gian bận.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/proc/meminfo; dùng MemTotal và MemAvailable.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Nhiệt độ/interface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Cảm biến /sys nếu có; operstate của ens33.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NGUỒN  CPU/RAM/temp/interface đều thuộc Ubuntu VM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8136" y="4288536"/>
            <a:ext cx="2379726" cy="969264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4361688"/>
            <a:ext cx="2233422" cy="38770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43A"/>
                </a:solidFill>
                <a:latin typeface="Aptos"/>
              </a:rPr>
              <a:t>CPU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763475"/>
            <a:ext cx="2215134" cy="36832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07086"/>
                </a:solidFill>
                <a:latin typeface="Aptos"/>
              </a:rPr>
              <a:t>/proc/stat
Bộ đếm bận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32454" y="4288536"/>
            <a:ext cx="2379726" cy="969264"/>
          </a:xfrm>
          <a:prstGeom prst="roundRect">
            <a:avLst/>
          </a:prstGeom>
          <a:solidFill>
            <a:srgbClr val="F0ECFA"/>
          </a:solidFill>
          <a:ln w="10160">
            <a:solidFill>
              <a:srgbClr val="81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5606" y="4361688"/>
            <a:ext cx="2233422" cy="38770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43A"/>
                </a:solidFill>
                <a:latin typeface="Aptos"/>
              </a:rPr>
              <a:t>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4750" y="4763475"/>
            <a:ext cx="2215134" cy="36832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07086"/>
                </a:solidFill>
                <a:latin typeface="Aptos"/>
              </a:rPr>
              <a:t>/proc/meminfo
MemAvailable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6772" y="4288536"/>
            <a:ext cx="2379726" cy="969264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9924" y="4361688"/>
            <a:ext cx="2233422" cy="38770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43A"/>
                </a:solidFill>
                <a:latin typeface="Aptos"/>
              </a:rPr>
              <a:t>TEMP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9068" y="4763475"/>
            <a:ext cx="2215134" cy="36832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07086"/>
                </a:solidFill>
                <a:latin typeface="Aptos"/>
              </a:rPr>
              <a:t>/sys/hwmon
UNKNOWN nếu thiếu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21090" y="4288536"/>
            <a:ext cx="2379726" cy="969264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94242" y="4361688"/>
            <a:ext cx="2233422" cy="38770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43A"/>
                </a:solidFill>
                <a:latin typeface="Aptos"/>
              </a:rPr>
              <a:t>INTERFACE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3386" y="4763475"/>
            <a:ext cx="2215134" cy="36832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07086"/>
                </a:solidFill>
                <a:latin typeface="Aptos"/>
              </a:rPr>
              <a:t>/sys/class/net
operstate ens33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device_monitor/collectors/ssh.py · examples/simple.env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CHỈ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Cách hệ thống tính CPU và 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Giá trị được chuẩn hóa thành phần trăm từ bộ đếm Linux và lượng RAM còn dùng được.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100 × (1 − idle delta / total delta); đọc cách nhau khoảng 1 giây.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100 × (MemTotal − MemAvailable) / MemTotal.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Diễn giải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4 GB cấp cho VM, còn 1 GB khả dụng → RAM dùng xấp xỉ 75%.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VÍ DỤ  3/4 GB sử dụng = 75% RAM Ubuntu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FORMULAS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52144" y="4005072"/>
            <a:ext cx="9884664" cy="484632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62456" y="4069080"/>
            <a:ext cx="946404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CPU% = 100 × (1 − idle delta / total delta)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52144" y="4626864"/>
            <a:ext cx="9884664" cy="484632"/>
          </a:xfrm>
          <a:prstGeom prst="roundRect">
            <a:avLst/>
          </a:prstGeom>
          <a:solidFill>
            <a:srgbClr val="F0ECFA"/>
          </a:solidFill>
          <a:ln w="10160"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62456" y="4690872"/>
            <a:ext cx="946404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43A"/>
                </a:solidFill>
                <a:latin typeface="Aptos"/>
              </a:rPr>
              <a:t>RAM% = 100 × (MemTotal − MemAvailable) / MemTotal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73936" y="5349240"/>
            <a:ext cx="3017520" cy="27432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362955"/>
            <a:ext cx="2907791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C78E8"/>
                </a:solidFill>
                <a:latin typeface="Aptos"/>
              </a:rPr>
              <a:t>CPU: hai mẫu, cách nhau ~1 giây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34656" y="5349240"/>
            <a:ext cx="3246120" cy="274320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E5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5362955"/>
            <a:ext cx="3136391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68D68"/>
                </a:solidFill>
                <a:latin typeface="Aptos"/>
              </a:rPr>
              <a:t>4 GB − 1 GB khả dụng ≈ 75% dùng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device_monitor/collectors/ssh.py · docs/ARCHITECTURE.md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CHỈ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Nhiệt độ và tính toàn vẹn số liệu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Không có cảm biến phải được báo UNKNOWN hoặc bỏ theo cấu hình, không đổi thành nhiệt độ 0°C.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Auto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Đọc cảm biến CPU đã nhận diện trong /sys/hwmon hoặc thermal.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UNKNOWN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Máy ảo thường không lộ cảm biến vật lý; ghi nhận thiếu dữ liệu.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Đọc mẫu có hạn dùng; mọi số đo/cảnh báo phải gắn nhãn MÔ PHỎNG.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PROFILE  MONITOR_TEMP_ENABLED · TEMP_SOURCE=auto/demo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TEMPERATURE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" y="4270248"/>
            <a:ext cx="3063240" cy="969264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343400"/>
            <a:ext cx="2916936" cy="38770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AUTO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" y="4745187"/>
            <a:ext cx="2898648" cy="36832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Đọc cảm biến thật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75504" y="4270248"/>
            <a:ext cx="3063240" cy="969264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48656" y="4343400"/>
            <a:ext cx="2916936" cy="38770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43A"/>
                </a:solidFill>
                <a:latin typeface="Aptos"/>
              </a:rPr>
              <a:t>KHÔNG CÓ SENSOR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745187"/>
            <a:ext cx="2898648" cy="36832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UNKNOWN · giữ đúng dữ liệu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17736" y="4270248"/>
            <a:ext cx="2377440" cy="969264"/>
          </a:xfrm>
          <a:prstGeom prst="roundRect">
            <a:avLst/>
          </a:prstGeom>
          <a:solidFill>
            <a:srgbClr val="FCE9E8"/>
          </a:solidFill>
          <a:ln w="10160">
            <a:solidFill>
              <a:srgbClr val="D65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0888" y="4343400"/>
            <a:ext cx="2231136" cy="38770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0032" y="4745187"/>
            <a:ext cx="2212848" cy="368320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MÔ PHỎNG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51376" y="4754880"/>
            <a:ext cx="914400" cy="0"/>
          </a:xfrm>
          <a:prstGeom prst="line">
            <a:avLst/>
          </a:prstGeom>
          <a:ln w="20320">
            <a:solidFill>
              <a:srgbClr val="E7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991856" y="5404104"/>
            <a:ext cx="3566160" cy="2377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65F5B"/>
                </a:solidFill>
                <a:latin typeface="Aptos"/>
              </a:rPr>
              <a:t>Mô phỏng không chứng minh đã đo nhiệt độ phần cứng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device_monitor/probe.py · lab/linux/labctl.py · docs/ARCHITECTURE.md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Chu kỳ thu thập và độ trễ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Polling 5 giây là gần thời gian thực; phát hiện và giao tin vẫn chịu độ trễ đo, mạng và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Lấy mẫu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Kết nối, đọc chỉ số, đánh giá và cập nhật bảng mỗi vòng.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Chu kỳ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Profile đơn giản chờ 5 giây sau lượt đọc; CPU cần mẫu ~1 giây.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Độ trễ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Sự cố chờ lượt kế tiếp; timeout/retry/API làm tin tới muộn.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5 GIÂY  Không phải cam kết mọi cảnh báo đến trong đúng 5 giây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CYCLE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1" y="4206240"/>
            <a:ext cx="1549908" cy="859536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3000" y="4270248"/>
            <a:ext cx="320040" cy="274320"/>
          </a:xfrm>
          <a:prstGeom prst="round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7864" y="4283964"/>
            <a:ext cx="210311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654296"/>
            <a:ext cx="142189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243A"/>
                </a:solidFill>
                <a:latin typeface="Aptos"/>
              </a:rPr>
              <a:t>Đọc config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01468" y="4636008"/>
            <a:ext cx="128016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747772" y="4206240"/>
            <a:ext cx="1549908" cy="859536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857500" y="4270248"/>
            <a:ext cx="320040" cy="274320"/>
          </a:xfrm>
          <a:prstGeom prst="round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12364" y="4283964"/>
            <a:ext cx="210311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11779" y="4654296"/>
            <a:ext cx="142189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243A"/>
                </a:solidFill>
                <a:latin typeface="Aptos"/>
              </a:rPr>
              <a:t>Kết nối SSH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15968" y="4636008"/>
            <a:ext cx="128016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462272" y="4206240"/>
            <a:ext cx="1549908" cy="859536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0" y="4270248"/>
            <a:ext cx="320040" cy="274320"/>
          </a:xfrm>
          <a:prstGeom prst="roundRect">
            <a:avLst/>
          </a:prstGeom>
          <a:solidFill>
            <a:srgbClr val="268D68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26864" y="4283964"/>
            <a:ext cx="210311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4654296"/>
            <a:ext cx="142189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243A"/>
                </a:solidFill>
                <a:latin typeface="Aptos"/>
              </a:rPr>
              <a:t>Thu thập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30468" y="4636008"/>
            <a:ext cx="128016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176772" y="4206240"/>
            <a:ext cx="1549908" cy="859536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86500" y="4270248"/>
            <a:ext cx="320040" cy="274320"/>
          </a:xfrm>
          <a:prstGeom prst="round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1364" y="4283964"/>
            <a:ext cx="210311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0780" y="4654296"/>
            <a:ext cx="142189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243A"/>
                </a:solidFill>
                <a:latin typeface="Aptos"/>
              </a:rPr>
              <a:t>So ngưỡng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44967" y="4636008"/>
            <a:ext cx="128016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891271" y="4206240"/>
            <a:ext cx="1549908" cy="859536"/>
          </a:xfrm>
          <a:prstGeom prst="roundRect">
            <a:avLst/>
          </a:prstGeom>
          <a:solidFill>
            <a:srgbClr val="F0ECFA"/>
          </a:solidFill>
          <a:ln w="10160">
            <a:solidFill>
              <a:srgbClr val="81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00999" y="4270248"/>
            <a:ext cx="320040" cy="274320"/>
          </a:xfrm>
          <a:prstGeom prst="roundRect">
            <a:avLst/>
          </a:prstGeom>
          <a:solidFill>
            <a:srgbClr val="8165C6"/>
          </a:solidFill>
          <a:ln w="10160">
            <a:solidFill>
              <a:srgbClr val="81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5863" y="4283964"/>
            <a:ext cx="210311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4654296"/>
            <a:ext cx="142189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243A"/>
                </a:solidFill>
                <a:latin typeface="Aptos"/>
              </a:rPr>
              <a:t>Lưu state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459467" y="4636008"/>
            <a:ext cx="128017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605772" y="4206240"/>
            <a:ext cx="1549908" cy="859536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715499" y="4270248"/>
            <a:ext cx="320040" cy="274320"/>
          </a:xfrm>
          <a:prstGeom prst="round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70363" y="4283964"/>
            <a:ext cx="210311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69780" y="4654296"/>
            <a:ext cx="142189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243A"/>
                </a:solidFill>
                <a:latin typeface="Aptos"/>
              </a:rPr>
              <a:t>Gửi / chờ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" y="5376672"/>
            <a:ext cx="1001268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07086"/>
                </a:solidFill>
                <a:latin typeface="Aptos"/>
              </a:rPr>
              <a:t>5s sau lượt đọc  +  ~1s lấy mẫu CPU  +  thời gian SSH / timeout / API  →  độ trễ thay đổi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examples/simple.env · docs/ARCHITECTURE.md · docs/TEST_PLAN.md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CẢNH BÁO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Ngưỡng cảnh báo và phục hồi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Ngưỡng phục hồi có khoảng đệm 5 điểm để giảm đổi trạng thái liên tục.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Cảnh báo &gt;75%; sau đó phục hồi khi ≤70%.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Cảnh báo &gt;65%; sau đó phục hồi khi ≤60%.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Nhiệt độ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Cảnh báo &gt;65°C; sau đó phục hồi khi ≤60°C.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HYSTERESIS  RECOVERY_MARGIN=5; interface DOWN→ALERT, UP→OK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THRESHOLDS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4032504"/>
            <a:ext cx="8229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43A"/>
                </a:solidFill>
                <a:latin typeface="Aptos"/>
              </a:rPr>
              <a:t>CPU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3976" y="4123944"/>
            <a:ext cx="5760720" cy="109728"/>
          </a:xfrm>
          <a:prstGeom prst="rect">
            <a:avLst/>
          </a:prstGeom>
          <a:solidFill>
            <a:srgbClr val="DFE6E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3976" y="4123944"/>
            <a:ext cx="4320540" cy="109728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29016" y="4041648"/>
            <a:ext cx="1371600" cy="274320"/>
          </a:xfrm>
          <a:prstGeom prst="roundRect">
            <a:avLst/>
          </a:prstGeom>
          <a:solidFill>
            <a:srgbClr val="FCE9E8"/>
          </a:solidFill>
          <a:ln w="10160">
            <a:solidFill>
              <a:srgbClr val="FC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4055363"/>
            <a:ext cx="126187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65F5B"/>
                </a:solidFill>
                <a:latin typeface="Aptos"/>
              </a:rPr>
              <a:t>&gt;75%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4936" y="4041648"/>
            <a:ext cx="1965960" cy="274320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E5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9800" y="4055363"/>
            <a:ext cx="1856231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68D68"/>
                </a:solidFill>
                <a:latin typeface="Aptos"/>
              </a:rPr>
              <a:t>≤70% phục hồi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" y="4572000"/>
            <a:ext cx="8229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43A"/>
                </a:solidFill>
                <a:latin typeface="Aptos"/>
              </a:rPr>
              <a:t>RAM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93976" y="4663440"/>
            <a:ext cx="5760720" cy="109728"/>
          </a:xfrm>
          <a:prstGeom prst="rect">
            <a:avLst/>
          </a:prstGeom>
          <a:solidFill>
            <a:srgbClr val="DFE6E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93976" y="4663440"/>
            <a:ext cx="3744468" cy="109728"/>
          </a:xfrm>
          <a:prstGeom prst="rect">
            <a:avLst/>
          </a:prstGeom>
          <a:solidFill>
            <a:srgbClr val="8165C6"/>
          </a:solidFill>
          <a:ln w="10160">
            <a:solidFill>
              <a:srgbClr val="81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29016" y="4581144"/>
            <a:ext cx="1371600" cy="274320"/>
          </a:xfrm>
          <a:prstGeom prst="roundRect">
            <a:avLst/>
          </a:prstGeom>
          <a:solidFill>
            <a:srgbClr val="FCE9E8"/>
          </a:solidFill>
          <a:ln w="10160">
            <a:solidFill>
              <a:srgbClr val="FC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4594859"/>
            <a:ext cx="126187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65F5B"/>
                </a:solidFill>
                <a:latin typeface="Aptos"/>
              </a:rPr>
              <a:t>&gt;65%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74936" y="4581144"/>
            <a:ext cx="1965960" cy="274320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E5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4594859"/>
            <a:ext cx="1856231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68D68"/>
                </a:solidFill>
                <a:latin typeface="Aptos"/>
              </a:rPr>
              <a:t>≤60% phục hồi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" y="5111496"/>
            <a:ext cx="8229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43A"/>
                </a:solidFill>
                <a:latin typeface="Aptos"/>
              </a:rPr>
              <a:t>TEMP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93976" y="5202936"/>
            <a:ext cx="5760720" cy="109728"/>
          </a:xfrm>
          <a:prstGeom prst="rect">
            <a:avLst/>
          </a:prstGeom>
          <a:solidFill>
            <a:srgbClr val="DFE6E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93976" y="5202936"/>
            <a:ext cx="3744468" cy="109728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29016" y="5120640"/>
            <a:ext cx="1371600" cy="274320"/>
          </a:xfrm>
          <a:prstGeom prst="roundRect">
            <a:avLst/>
          </a:prstGeom>
          <a:solidFill>
            <a:srgbClr val="FCE9E8"/>
          </a:solidFill>
          <a:ln w="10160">
            <a:solidFill>
              <a:srgbClr val="FC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5134355"/>
            <a:ext cx="126187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65F5B"/>
                </a:solidFill>
                <a:latin typeface="Aptos"/>
              </a:rPr>
              <a:t>&gt;65°C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74936" y="5120640"/>
            <a:ext cx="1965960" cy="274320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E5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29800" y="5134355"/>
            <a:ext cx="1856231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68D68"/>
                </a:solidFill>
                <a:latin typeface="Aptos"/>
              </a:rPr>
              <a:t>≤60°C phục hồi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2656" y="5715000"/>
            <a:ext cx="667512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D40"/>
                </a:solidFill>
                <a:latin typeface="Aptos"/>
              </a:rPr>
              <a:t>Interface: DOWN → ALERT     |     UP → phục hồi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examples/simple.env · device_monitor/engine.py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CẢNH BÁO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Máy trạng thái và hysteresis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Chỉ tạo tin khi trạng thái chuyển; UNKNOWN giữ trạng thái hợp lệ gần nhất để xử lý phục hồi đúng.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Giá trị trong miền bình thường; không gửi lại mỗi vòng.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Vượt ngưỡng; giữ cảnh báo tới khi đạt ngưỡng phục hồi.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UNKNOWN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Thiếu dữ liệu; không suy diễn là bình thường hoặc bằng 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RAM  50 → 72 → 74 → 63 → 58: một cảnh báo, một tin phục hồi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STATES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5" y="4160520"/>
            <a:ext cx="1581912" cy="713232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4233672"/>
            <a:ext cx="1435608" cy="28529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4243A"/>
                </a:solidFill>
                <a:latin typeface="Aptos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510003"/>
            <a:ext cx="1417320" cy="27102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086"/>
                </a:solidFill>
                <a:latin typeface="Aptos"/>
              </a:rPr>
              <a:t>RAM 50%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06039" y="4517136"/>
            <a:ext cx="521209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154679" y="4160520"/>
            <a:ext cx="1581912" cy="713232"/>
          </a:xfrm>
          <a:prstGeom prst="roundRect">
            <a:avLst/>
          </a:prstGeom>
          <a:solidFill>
            <a:srgbClr val="FCE9E8"/>
          </a:solidFill>
          <a:ln w="10160">
            <a:solidFill>
              <a:srgbClr val="D65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27832" y="4233672"/>
            <a:ext cx="1435608" cy="28529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4243A"/>
                </a:solidFill>
                <a:latin typeface="Aptos"/>
              </a:rPr>
              <a:t>ALERT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6975" y="4510003"/>
            <a:ext cx="1417320" cy="27102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086"/>
                </a:solidFill>
                <a:latin typeface="Aptos"/>
              </a:rPr>
              <a:t>RAM 72%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764024" y="4517136"/>
            <a:ext cx="521207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312664" y="4160520"/>
            <a:ext cx="1581912" cy="713232"/>
          </a:xfrm>
          <a:prstGeom prst="roundRect">
            <a:avLst/>
          </a:prstGeom>
          <a:solidFill>
            <a:srgbClr val="FCE9E8"/>
          </a:solidFill>
          <a:ln w="10160">
            <a:solidFill>
              <a:srgbClr val="D65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85816" y="4233672"/>
            <a:ext cx="1435608" cy="28529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4243A"/>
                </a:solidFill>
                <a:latin typeface="Aptos"/>
              </a:rPr>
              <a:t>ALERT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59" y="4510003"/>
            <a:ext cx="1417320" cy="27102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086"/>
                </a:solidFill>
                <a:latin typeface="Aptos"/>
              </a:rPr>
              <a:t>RAM 74%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922007" y="4517136"/>
            <a:ext cx="521209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470648" y="4160520"/>
            <a:ext cx="1581912" cy="713232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4233672"/>
            <a:ext cx="1435608" cy="28529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4243A"/>
                </a:solidFill>
                <a:latin typeface="Aptos"/>
              </a:rPr>
              <a:t>ALERT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52944" y="4510003"/>
            <a:ext cx="1417320" cy="27102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086"/>
                </a:solidFill>
                <a:latin typeface="Aptos"/>
              </a:rPr>
              <a:t>RAM 63%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79992" y="4517136"/>
            <a:ext cx="521208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628632" y="4160520"/>
            <a:ext cx="1581912" cy="713232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01784" y="4233672"/>
            <a:ext cx="1435608" cy="28529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4243A"/>
                </a:solidFill>
                <a:latin typeface="Aptos"/>
              </a:rPr>
              <a:t>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0928" y="4510003"/>
            <a:ext cx="1417320" cy="27102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07086"/>
                </a:solidFill>
                <a:latin typeface="Aptos"/>
              </a:rPr>
              <a:t>RAM 58%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" y="5212080"/>
            <a:ext cx="9957816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607086"/>
                </a:solidFill>
                <a:latin typeface="Aptos"/>
              </a:rPr>
              <a:t>Chỉ gửi khi chuyển trạng thái: vượt 65% tạo alert; ≤60% mới phục hồi; 63% còn ALERT nếu trước đó đã cảnh báo.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10928" y="5678424"/>
            <a:ext cx="2057400" cy="393192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5751576"/>
            <a:ext cx="1911095" cy="15727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4243A"/>
                </a:solidFill>
                <a:latin typeface="Aptos"/>
              </a:rPr>
              <a:t>UNKNOWN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93224" y="5871088"/>
            <a:ext cx="1892807" cy="14941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07086"/>
                </a:solidFill>
                <a:latin typeface="Aptos"/>
              </a:rPr>
              <a:t>thiếu dữ liệu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device_monitor/engine.py · device_monitor/storage.py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CẢNH BÁO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Phân biệt ba nhóm sự cố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Ngắt interface đo, mất đường SSH và mất Internet gây ba kết quả vận hành khác nhau.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ens33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SSH qua ens37 còn; đọc trạng thái interface và báo lỗi.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Mất SSH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Không có số đo mới; đánh dấu mất kết nối và báo phục hồi.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Mất Internet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Lấy mẫu vẫn chạy; cảnh báo xếp hàng chờ gửi.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NGUYÊN TẮC  Ngắt ens33 để thử trạng thái; ngắt GNS3 để thử mất SSH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INCIDENTS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25295" y="4032504"/>
            <a:ext cx="2606040" cy="438912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7592" y="4078224"/>
            <a:ext cx="2441448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43A"/>
                </a:solidFill>
                <a:latin typeface="Aptos"/>
              </a:rPr>
              <a:t>ens33 DOWN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04488" y="4251960"/>
            <a:ext cx="548640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35424" y="4032504"/>
            <a:ext cx="3200400" cy="438912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4078224"/>
            <a:ext cx="3035808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ens37 SSH còn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27264" y="4251960"/>
            <a:ext cx="548640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458200" y="4032504"/>
            <a:ext cx="3063240" cy="438912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4078224"/>
            <a:ext cx="2898648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Cảnh báo interface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25295" y="4608576"/>
            <a:ext cx="2606040" cy="438912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07592" y="4654296"/>
            <a:ext cx="2441448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43A"/>
                </a:solidFill>
                <a:latin typeface="Aptos"/>
              </a:rPr>
              <a:t>Mất SSH/GNS3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904488" y="4828032"/>
            <a:ext cx="548640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35424" y="4608576"/>
            <a:ext cx="3200400" cy="438912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4654296"/>
            <a:ext cx="3035808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Không có mẫu mới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827264" y="4828032"/>
            <a:ext cx="548640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458200" y="4608576"/>
            <a:ext cx="3063240" cy="438912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0496" y="4654296"/>
            <a:ext cx="2898648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Cảnh báo kết nối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25295" y="5184648"/>
            <a:ext cx="2606040" cy="438912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07592" y="5230368"/>
            <a:ext cx="2441448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43A"/>
                </a:solidFill>
                <a:latin typeface="Aptos"/>
              </a:rPr>
              <a:t>Mất Internet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904488" y="5404104"/>
            <a:ext cx="548640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535424" y="5184648"/>
            <a:ext cx="3200400" cy="438912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7720" y="5230368"/>
            <a:ext cx="3035808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Tin lưu trong outbox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27264" y="5404104"/>
            <a:ext cx="548640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458200" y="5184648"/>
            <a:ext cx="3063240" cy="438912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0496" y="5230368"/>
            <a:ext cx="2898648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Gửi lại khi có mạng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docs/TEST_PLAN.md · docs/truc_quan/README.md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GỬI 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Hàng đợi và độ tin cậy cảnh báo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SQLite lưu trạng thái và tin trong cùng giao dịch; luồng gửi riêng thử lại các tin chưa xác nhận.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Outbox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Giữ tin chưa giao qua lần dừng/chạy lại ứng dụng.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Retry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Backoff 2, 4, 8… tối đa 300 giây; HTTP 429 đọc retry-after.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Cam kết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At-least-once; phản hồi thất lạc có thể làm tin bị gửi trùng.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SQLite  states + outbox; mỗi kênh giữ thứ tự tin riêng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OUTBOX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8136" y="4133087"/>
            <a:ext cx="2125980" cy="82296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4206240"/>
            <a:ext cx="1979676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4243A"/>
                </a:solidFill>
                <a:latin typeface="Aptos"/>
              </a:rPr>
              <a:t>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536338"/>
            <a:ext cx="1961388" cy="31272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Chuyển trạng thái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41548" y="4544568"/>
            <a:ext cx="448056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717035" y="4133087"/>
            <a:ext cx="2125980" cy="822960"/>
          </a:xfrm>
          <a:prstGeom prst="roundRect">
            <a:avLst/>
          </a:prstGeom>
          <a:solidFill>
            <a:srgbClr val="F0ECFA"/>
          </a:solidFill>
          <a:ln w="10160">
            <a:solidFill>
              <a:srgbClr val="81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0187" y="4206240"/>
            <a:ext cx="1979676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4243A"/>
                </a:solidFill>
                <a:latin typeface="Aptos"/>
              </a:rPr>
              <a:t>SQLITE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9331" y="4536338"/>
            <a:ext cx="1961388" cy="31272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Commit + outbox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870448" y="4544568"/>
            <a:ext cx="448055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345936" y="4133087"/>
            <a:ext cx="2125980" cy="822960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206240"/>
            <a:ext cx="1979676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4243A"/>
                </a:solidFill>
                <a:latin typeface="Aptos"/>
              </a:rPr>
              <a:t>SENDER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1" y="4536338"/>
            <a:ext cx="1961388" cy="31272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Luồng riêng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99348" y="4544568"/>
            <a:ext cx="448056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974836" y="4133087"/>
            <a:ext cx="2125980" cy="822960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47988" y="4206240"/>
            <a:ext cx="1979676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4243A"/>
                </a:solidFill>
                <a:latin typeface="Aptos"/>
              </a:rPr>
              <a:t>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7132" y="4536338"/>
            <a:ext cx="1961388" cy="31272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Xác nhận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54296" y="5294376"/>
            <a:ext cx="3657600" cy="393192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27448" y="5367528"/>
            <a:ext cx="3511296" cy="15727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4243A"/>
                </a:solidFill>
                <a:latin typeface="Aptos"/>
              </a:rPr>
              <a:t>HTTP lỗi / 429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36592" y="5487040"/>
            <a:ext cx="3493008" cy="14941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07086"/>
                </a:solidFill>
                <a:latin typeface="Aptos"/>
              </a:rPr>
              <a:t>giữ tin · backoff · thử lại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8494776" y="4974336"/>
            <a:ext cx="1600200" cy="539495"/>
          </a:xfrm>
          <a:prstGeom prst="line">
            <a:avLst/>
          </a:prstGeom>
          <a:ln w="20320">
            <a:solidFill>
              <a:srgbClr val="E7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94776" y="5321808"/>
            <a:ext cx="306324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65F5B"/>
                </a:solidFill>
                <a:latin typeface="Aptos"/>
              </a:rPr>
              <a:t>At-least-once: xác nhận bị mất có thể gây gửi trùng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device_monitor/storage.py · device_monitor/notifications.py · docs/ARCHITECTURE.md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AN TOÀN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Bảo vệ thông tin và kết nối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Xác minh host key, lưu secret cục bộ và giới hạn giao thức quản trị trong mạng lab.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RejectPolicy + known_hosts; không tự tin host key lạ.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Secret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Mật khẩu/token/webhook ở .env bị Git ignore; không ghi log.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SNMP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v2c chỉ lab cô lập; v3 authPriv hỗ trợ xác thực/mã hóa.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PORT  SSH TCP/22 · SNMP UDP/161 · API HTTPS/TCP 443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SECURITY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6424" y="4270248"/>
            <a:ext cx="2370582" cy="978408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9576" y="4343400"/>
            <a:ext cx="2224278" cy="391363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243A"/>
                </a:solidFill>
                <a:latin typeface="Aptos"/>
              </a:rPr>
              <a:t>Host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749667"/>
            <a:ext cx="2205990" cy="37179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086"/>
                </a:solidFill>
                <a:latin typeface="Aptos"/>
              </a:rPr>
              <a:t>Xác minh fingerprint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17904" y="4050791"/>
            <a:ext cx="438912" cy="274320"/>
          </a:xfrm>
          <a:prstGeom prst="round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2768" y="4064507"/>
            <a:ext cx="329184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41598" y="4270248"/>
            <a:ext cx="2370582" cy="978408"/>
          </a:xfrm>
          <a:prstGeom prst="roundRect">
            <a:avLst/>
          </a:prstGeom>
          <a:solidFill>
            <a:srgbClr val="F0ECFA"/>
          </a:solidFill>
          <a:ln w="10160">
            <a:solidFill>
              <a:srgbClr val="81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14750" y="4343400"/>
            <a:ext cx="2224278" cy="391363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243A"/>
                </a:solidFill>
                <a:latin typeface="Aptos"/>
              </a:rPr>
              <a:t>Secret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23894" y="4749667"/>
            <a:ext cx="2205990" cy="37179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086"/>
                </a:solidFill>
                <a:latin typeface="Aptos"/>
              </a:rPr>
              <a:t>.env cục bộ · Git ignore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53078" y="4050791"/>
            <a:ext cx="438912" cy="274320"/>
          </a:xfrm>
          <a:prstGeom prst="roundRect">
            <a:avLst/>
          </a:prstGeom>
          <a:solidFill>
            <a:srgbClr val="8165C6"/>
          </a:solidFill>
          <a:ln w="10160">
            <a:solidFill>
              <a:srgbClr val="81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07941" y="4064507"/>
            <a:ext cx="329184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6772" y="4270248"/>
            <a:ext cx="2370582" cy="978408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9924" y="4343400"/>
            <a:ext cx="2224278" cy="391363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243A"/>
                </a:solidFill>
                <a:latin typeface="Aptos"/>
              </a:rPr>
              <a:t>Kênh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59068" y="4749667"/>
            <a:ext cx="2205990" cy="37179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086"/>
                </a:solidFill>
                <a:latin typeface="Aptos"/>
              </a:rPr>
              <a:t>HTTPS · TLS · không log URL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8252" y="4050791"/>
            <a:ext cx="438912" cy="274320"/>
          </a:xfrm>
          <a:prstGeom prst="round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43116" y="4064507"/>
            <a:ext cx="329184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11946" y="4270248"/>
            <a:ext cx="2370582" cy="978408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85098" y="4343400"/>
            <a:ext cx="2224278" cy="391363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243A"/>
                </a:solidFill>
                <a:latin typeface="Aptos"/>
              </a:rPr>
              <a:t>SNMP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4242" y="4749667"/>
            <a:ext cx="2205990" cy="37179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086"/>
                </a:solidFill>
                <a:latin typeface="Aptos"/>
              </a:rPr>
              <a:t>v3 authPriv / v2c lab cô lập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23426" y="4050791"/>
            <a:ext cx="438912" cy="274320"/>
          </a:xfrm>
          <a:prstGeom prst="round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78290" y="4064507"/>
            <a:ext cx="329184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device_monitor/collectors/ssh.py · device_monitor/config.py · docs/ARCHITECTURE.md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Hai profile triển khai dự 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Bản đơn giản giảm bước cài đặt; profile GNS3 mở rộng SNMP/hybrid và mạng thử nghiệm riêng.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Đơn giản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run_windows.cmd; SSH tới .10.129; theo dõi ens33.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Mở rộng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.env.gns3; SSH/SNMP/hybrid; gns3test .30.129.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Dùng chung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Ngưỡng, SQLite, dashboard và Telegram/Slack.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LAB MỞ RỘNG  VMnet3 .30.0/24 · VPCS .30.10 (kiểm tra mạng)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PROFILES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8136" y="4069080"/>
            <a:ext cx="4251960" cy="1527048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4142232"/>
            <a:ext cx="4105656" cy="610819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BẢN ĐƠN GIẢN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817333"/>
            <a:ext cx="4087368" cy="58027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07086"/>
                </a:solidFill>
                <a:latin typeface="Aptos"/>
              </a:rPr>
              <a:t>SSH · .env.simple · ens33
Windows → .10.129
run_windows.cmd / F5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48856" y="4069080"/>
            <a:ext cx="4251960" cy="1527048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22008" y="4142232"/>
            <a:ext cx="4105656" cy="610819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4243A"/>
                </a:solidFill>
                <a:latin typeface="Aptos"/>
              </a:rPr>
              <a:t>PROFILE GNS3 MỞ RỘNG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4817333"/>
            <a:ext cx="4087368" cy="58027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Aptos"/>
              </a:rPr>
              <a:t>SSH / SNMP / hybrid · .env.gns3
gns3test .30.129 · VPCS .30.10
run: python -m device_monitor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77256" y="4389120"/>
            <a:ext cx="1234440" cy="274320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4402836"/>
            <a:ext cx="112471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87C71"/>
                </a:solidFill>
                <a:latin typeface="Aptos"/>
              </a:rPr>
              <a:t>CHUNG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63824" y="5760720"/>
            <a:ext cx="5852160" cy="2468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07086"/>
                </a:solidFill>
                <a:latin typeface="Aptos"/>
              </a:rPr>
              <a:t>engine · SQLite/outbox · dashboard · Telegram/Slack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README.md · docs/GNS3_LAB.md · examples/{simple,gns3}.env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NGHIỆM THU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Kế hoạch kiểm thử và nghiệm thu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Mỗi tình huống phải gắn kích thích, phản ứng mong đợi và bằng chứng trên máy thật.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Tài nguyên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Tạo tải CPU/RAM; xác nhận cảnh báo và phục hồi.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Kết nối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Ngắt ens33, SSH/GNS3 hoặc Internet riêng theo từng 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Dữ liệu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Kiểm tra nhiệt độ UNKNOWN/demo và host key sai.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BẰNG CHỨNG  Thời điểm đo · tin nhận · ảnh đã che secret · phiên bản/commit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TESTMATRIX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2415" y="3977639"/>
            <a:ext cx="3291840" cy="292608"/>
          </a:xfrm>
          <a:prstGeom prst="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" y="3995928"/>
            <a:ext cx="3108960" cy="2377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Kích thích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98264" y="3977639"/>
            <a:ext cx="4297680" cy="292608"/>
          </a:xfrm>
          <a:prstGeom prst="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9704" y="3995928"/>
            <a:ext cx="4114800" cy="2377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Kết quả cần thấy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59952" y="3977639"/>
            <a:ext cx="3200400" cy="292608"/>
          </a:xfrm>
          <a:prstGeom prst="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51392" y="3995928"/>
            <a:ext cx="3017520" cy="2377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Bằng chứng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2415" y="4297680"/>
            <a:ext cx="32918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4311396"/>
            <a:ext cx="3127248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E2D40"/>
                </a:solidFill>
                <a:latin typeface="Aptos"/>
              </a:rPr>
              <a:t>CPU/RAM tăng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98264" y="4297680"/>
            <a:ext cx="42976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9704" y="4311396"/>
            <a:ext cx="4133088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E2D40"/>
                </a:solidFill>
                <a:latin typeface="Aptos"/>
              </a:rPr>
              <a:t>ALERT → phục hồi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59952" y="4297680"/>
            <a:ext cx="320040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51392" y="4311396"/>
            <a:ext cx="3035808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E2D40"/>
                </a:solidFill>
                <a:latin typeface="Aptos"/>
              </a:rPr>
              <a:t>Số đo + tin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5" y="4645152"/>
            <a:ext cx="3291840" cy="310896"/>
          </a:xfrm>
          <a:prstGeom prst="rect">
            <a:avLst/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33856" y="4658868"/>
            <a:ext cx="3127248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E2D40"/>
                </a:solidFill>
                <a:latin typeface="Aptos"/>
              </a:rPr>
              <a:t>ens33 / SSH ngắt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98264" y="4645152"/>
            <a:ext cx="4297680" cy="310896"/>
          </a:xfrm>
          <a:prstGeom prst="rect">
            <a:avLst/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9704" y="4658868"/>
            <a:ext cx="4133088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E2D40"/>
                </a:solidFill>
                <a:latin typeface="Aptos"/>
              </a:rPr>
              <a:t>DOWN / mất kết nối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59952" y="4645152"/>
            <a:ext cx="3200400" cy="310896"/>
          </a:xfrm>
          <a:prstGeom prst="rect">
            <a:avLst/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51392" y="4658868"/>
            <a:ext cx="3035808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E2D40"/>
                </a:solidFill>
                <a:latin typeface="Aptos"/>
              </a:rPr>
              <a:t>State + thời điểm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2415" y="4992624"/>
            <a:ext cx="32918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3856" y="5006340"/>
            <a:ext cx="3127248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E2D40"/>
                </a:solidFill>
                <a:latin typeface="Aptos"/>
              </a:rPr>
              <a:t>Internet / restart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98264" y="4992624"/>
            <a:ext cx="42976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9704" y="5006340"/>
            <a:ext cx="4133088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E2D40"/>
                </a:solidFill>
                <a:latin typeface="Aptos"/>
              </a:rPr>
              <a:t>Queue + retry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59952" y="4992624"/>
            <a:ext cx="320040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51392" y="5006340"/>
            <a:ext cx="3035808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E2D40"/>
                </a:solidFill>
                <a:latin typeface="Aptos"/>
              </a:rPr>
              <a:t>Tin chờ → giao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2415" y="5340096"/>
            <a:ext cx="3291840" cy="310896"/>
          </a:xfrm>
          <a:prstGeom prst="rect">
            <a:avLst/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3856" y="5353812"/>
            <a:ext cx="3127248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E2D40"/>
                </a:solidFill>
                <a:latin typeface="Aptos"/>
              </a:rPr>
              <a:t>Nhiệt độ / host key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98264" y="5340096"/>
            <a:ext cx="4297680" cy="310896"/>
          </a:xfrm>
          <a:prstGeom prst="rect">
            <a:avLst/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89704" y="5353812"/>
            <a:ext cx="4133088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E2D40"/>
                </a:solidFill>
                <a:latin typeface="Aptos"/>
              </a:rPr>
              <a:t>UNKNOWN / từ chối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59952" y="5340096"/>
            <a:ext cx="3200400" cy="310896"/>
          </a:xfrm>
          <a:prstGeom prst="rect">
            <a:avLst/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51392" y="5353812"/>
            <a:ext cx="3035808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E2D40"/>
                </a:solidFill>
                <a:latin typeface="Aptos"/>
              </a:rPr>
              <a:t>Nguồn + fingerprint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docs/TEST_PLAN.md · docs/GNS3_LAB.md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KIỂM CHỨNG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Kết quả kiểm chứng hiện có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Kiểm thử mã bao phủ collector, ngưỡng và retry; xác nhận trên Windows/GNS3 thật vẫn là bước riêng.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Tự động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119 unit tests; SSH/SNMP loopback và parser/test outbox.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Mạng thật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TCP/22 tới .10.129 từng thành công qua Local Area Connection.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Giới hạn chứng cứ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Loopback tests không chứng minh Telegram/SNMP agent thật.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ẢNH NGƯỜI DÙNG  TAP counters: 106→GNS3, 57→TAP, dropped 0 (một thời điểm)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24712" y="4215383"/>
            <a:ext cx="2361438" cy="960120"/>
          </a:xfrm>
          <a:prstGeom prst="roundRect">
            <a:avLst/>
          </a:prstGeom>
          <a:solidFill>
            <a:srgbClr val="E5F3EC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97864" y="4288536"/>
            <a:ext cx="2215134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TCP/22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4685842"/>
            <a:ext cx="2196846" cy="36484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07086"/>
                </a:solidFill>
                <a:latin typeface="Aptos"/>
              </a:rPr>
              <a:t>PASS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0742" y="4215383"/>
            <a:ext cx="2361438" cy="96012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23894" y="4288536"/>
            <a:ext cx="2215134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3038" y="4685842"/>
            <a:ext cx="2196846" cy="36484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07086"/>
                </a:solidFill>
                <a:latin typeface="Aptos"/>
              </a:rPr>
              <a:t>.10.1 / TAP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6772" y="4215383"/>
            <a:ext cx="2361438" cy="960120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9924" y="4288536"/>
            <a:ext cx="2215134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106 / 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9068" y="4685842"/>
            <a:ext cx="2196846" cy="36484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07086"/>
                </a:solidFill>
                <a:latin typeface="Aptos"/>
              </a:rPr>
              <a:t>frame counters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02802" y="4215383"/>
            <a:ext cx="2361438" cy="960120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5954" y="4288536"/>
            <a:ext cx="2215134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DROPPED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5098" y="4685842"/>
            <a:ext cx="2196846" cy="364845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07086"/>
                </a:solidFill>
                <a:latin typeface="Aptos"/>
              </a:rPr>
              <a:t>0 (ảnh chụp)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3584" y="5431536"/>
            <a:ext cx="9701784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D65F5B"/>
                </a:solidFill>
                <a:latin typeface="Aptos"/>
              </a:rPr>
              <a:t>Một lần thử mạng thành công ≠ nghiệm thu toàn bộ collector / SNMP / gửi tin thật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docs/VALIDATION.md · ảnh/test người dùng · docs/TEST_PLAN.md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GIỚI HẠN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Giới hạn kỹ thuật cần công bố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Kết quả phải nêu giới hạn môi trường, phạm vi đo và mức xác nhận thực tế.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Nhiệt độ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VM có thể thiếu cảm biến; demo không phải đo phần cứng.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Lịch sử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SQLite lưu state/outbox, không phải kho thời gian-series.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Cùng máy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Windows tắt/ngủ có thể làm monitor và VM cùng dừng.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PHẠM VI  Một thiết bị / tiến trình / state file theo cấu hình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LIMITATIONS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2456" y="4050791"/>
            <a:ext cx="5010912" cy="658368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35608" y="4123944"/>
            <a:ext cx="4864608" cy="263347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43A"/>
                </a:solidFill>
                <a:latin typeface="Aptos"/>
              </a:rPr>
              <a:t>CẢM BIẾN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373392"/>
            <a:ext cx="4846320" cy="250179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07086"/>
                </a:solidFill>
                <a:latin typeface="Aptos"/>
              </a:rPr>
              <a:t>VM có thể thiếu nhiệt độ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67728" y="4050791"/>
            <a:ext cx="5010912" cy="658368"/>
          </a:xfrm>
          <a:prstGeom prst="roundRect">
            <a:avLst/>
          </a:prstGeom>
          <a:solidFill>
            <a:srgbClr val="F0ECFA"/>
          </a:solidFill>
          <a:ln w="10160">
            <a:solidFill>
              <a:srgbClr val="81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4123944"/>
            <a:ext cx="4864608" cy="263347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43A"/>
                </a:solidFill>
                <a:latin typeface="Aptos"/>
              </a:rPr>
              <a:t>HISTORIAN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0024" y="4373392"/>
            <a:ext cx="4846320" cy="250179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07086"/>
                </a:solidFill>
                <a:latin typeface="Aptos"/>
              </a:rPr>
              <a:t>SQLite không lưu chuỗi thời gian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2456" y="4937759"/>
            <a:ext cx="5010912" cy="658368"/>
          </a:xfrm>
          <a:prstGeom prst="roundRect">
            <a:avLst/>
          </a:prstGeom>
          <a:solidFill>
            <a:srgbClr val="FCE9E8"/>
          </a:solidFill>
          <a:ln w="10160">
            <a:solidFill>
              <a:srgbClr val="D65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5608" y="5010912"/>
            <a:ext cx="4864608" cy="263347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43A"/>
                </a:solidFill>
                <a:latin typeface="Aptos"/>
              </a:rPr>
              <a:t>SINGLE HOST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752" y="5260360"/>
            <a:ext cx="4846320" cy="250179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07086"/>
                </a:solidFill>
                <a:latin typeface="Aptos"/>
              </a:rPr>
              <a:t>Host ngủ/tắt: monitor dừng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67728" y="4937759"/>
            <a:ext cx="5010912" cy="658368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5010912"/>
            <a:ext cx="4864608" cy="263347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43A"/>
                </a:solidFill>
                <a:latin typeface="Aptos"/>
              </a:rPr>
              <a:t>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0024" y="5260360"/>
            <a:ext cx="4846320" cy="250179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07086"/>
                </a:solidFill>
                <a:latin typeface="Aptos"/>
              </a:rPr>
              <a:t>Một tiến trình mỗi state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docs/ARCHITECTURE.md · docs/VALIDATION.md · docs/TEST_PLAN.md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87C71"/>
                </a:solidFill>
                <a:latin typeface="Aptos"/>
              </a:rPr>
              <a:t>QTMNC   /   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539496"/>
            <a:ext cx="10881360" cy="52120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Kết luận và hành động tiếp theo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9960" y="384048"/>
            <a:ext cx="502920" cy="274320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397764"/>
            <a:ext cx="393192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09376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16152"/>
            <a:ext cx="1243584" cy="1371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C71"/>
                </a:solidFill>
                <a:latin typeface="Aptos"/>
              </a:rPr>
              <a:t>THÔNG ĐIỆP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25296"/>
            <a:ext cx="9418320" cy="38404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43A"/>
                </a:solidFill>
                <a:latin typeface="Aptos"/>
              </a:rPr>
              <a:t>Mô hình chứng minh được vòng giám sát end-to-end khi hoàn tất nghiệm thu collector, đường truyền và kênh nhận tin.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547871" cy="1033271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0292" cy="1033271"/>
          </a:xfrm>
          <a:prstGeom prst="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01  Chạy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Xác nhận TAP/GNS3 và khôi phục Test-NetConnection TCP/22.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47088"/>
            <a:ext cx="3547871" cy="1033271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47088"/>
            <a:ext cx="50292" cy="1033271"/>
          </a:xfrm>
          <a:prstGeom prst="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02  Nghiệm thu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Chạy các ca ens33, CPU/RAM, mất SSH và phục hồi.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847088"/>
            <a:ext cx="3547871" cy="1033271"/>
          </a:xfrm>
          <a:prstGeom prst="roundRect">
            <a:avLst/>
          </a:prstGeom>
          <a:solidFill>
            <a:srgbClr val="E7F6F3"/>
          </a:solidFill>
          <a:ln w="10160">
            <a:solidFill>
              <a:srgbClr val="E7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847088"/>
            <a:ext cx="50292" cy="1033271"/>
          </a:xfrm>
          <a:prstGeom prst="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938528"/>
            <a:ext cx="3209543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4243A"/>
                </a:solidFill>
                <a:latin typeface="Aptos"/>
              </a:rPr>
              <a:t>03  Báo cáo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3" y="2231136"/>
            <a:ext cx="3200399" cy="539496"/>
          </a:xfrm>
          <a:prstGeom prst="rect">
            <a:avLst/>
          </a:prstGeom>
          <a:noFill/>
        </p:spPr>
        <p:txBody>
          <a:bodyPr wrap="square" anchor="t" lIns="13716" rIns="13716" tIns="13716" bIns="13716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E2D40"/>
                </a:solidFill>
                <a:latin typeface="Aptos"/>
              </a:rPr>
              <a:t>Ghi rõ SSH đã dùng; chỉ tuyên bố SNMP/Telegram khi đã đo thật.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90088"/>
            <a:ext cx="11009376" cy="356616"/>
          </a:xfrm>
          <a:prstGeom prst="roundRect">
            <a:avLst/>
          </a:prstGeom>
          <a:solidFill>
            <a:srgbClr val="14243A"/>
          </a:solidFill>
          <a:ln w="1016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26664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E2D6"/>
                </a:solidFill>
                <a:latin typeface="Aptos"/>
              </a:rPr>
              <a:t>MINH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026664"/>
            <a:ext cx="9509760" cy="2103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THÀNH CÔNG  Cảnh báo đúng · phục hồi đúng · không spam · secret an toàn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009376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7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C71"/>
                </a:solidFill>
                <a:latin typeface="Aptos"/>
              </a:rPr>
              <a:t>GỢI Ý TRỰC QUAN  / 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9848" y="4215383"/>
            <a:ext cx="178308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787652" y="4087368"/>
            <a:ext cx="347472" cy="274320"/>
          </a:xfrm>
          <a:prstGeom prst="roundRect">
            <a:avLst/>
          </a:prstGeom>
          <a:solidFill>
            <a:srgbClr val="4C78E8"/>
          </a:solidFill>
          <a:ln w="10160">
            <a:solidFill>
              <a:srgbClr val="4C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42516" y="4101083"/>
            <a:ext cx="237744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4471416"/>
            <a:ext cx="1618488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243A"/>
                </a:solidFill>
                <a:latin typeface="Aptos"/>
              </a:rPr>
              <a:t>Khôi phục TAP/GNS3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71216" y="4709160"/>
            <a:ext cx="246888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136391" y="4215383"/>
            <a:ext cx="178308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54195" y="4087368"/>
            <a:ext cx="347472" cy="274320"/>
          </a:xfrm>
          <a:prstGeom prst="roundRect">
            <a:avLst/>
          </a:prstGeom>
          <a:solidFill>
            <a:srgbClr val="268D68"/>
          </a:solidFill>
          <a:ln w="10160">
            <a:solidFill>
              <a:srgbClr val="268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09059" y="4101083"/>
            <a:ext cx="237744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18687" y="4471416"/>
            <a:ext cx="1618488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243A"/>
                </a:solidFill>
                <a:latin typeface="Aptos"/>
              </a:rPr>
              <a:t>Lặp thử TCP/22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937759" y="4709160"/>
            <a:ext cx="246889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202936" y="4215383"/>
            <a:ext cx="178308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20739" y="4087368"/>
            <a:ext cx="347472" cy="274320"/>
          </a:xfrm>
          <a:prstGeom prst="roundRect">
            <a:avLst/>
          </a:prstGeom>
          <a:solidFill>
            <a:srgbClr val="E7A23B"/>
          </a:solidFill>
          <a:ln w="10160">
            <a:solidFill>
              <a:srgbClr val="E7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75603" y="4101083"/>
            <a:ext cx="237744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5231" y="4471416"/>
            <a:ext cx="1618488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243A"/>
                </a:solidFill>
                <a:latin typeface="Aptos"/>
              </a:rPr>
              <a:t>Chạy collector / --once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04303" y="4709160"/>
            <a:ext cx="246889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269479" y="4215383"/>
            <a:ext cx="178308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87283" y="4087368"/>
            <a:ext cx="347472" cy="274320"/>
          </a:xfrm>
          <a:prstGeom prst="roundRect">
            <a:avLst/>
          </a:prstGeom>
          <a:solidFill>
            <a:srgbClr val="15A995"/>
          </a:solidFill>
          <a:ln w="10160">
            <a:solidFill>
              <a:srgbClr val="15A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2148" y="4101083"/>
            <a:ext cx="237744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1775" y="4471416"/>
            <a:ext cx="1618488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243A"/>
                </a:solidFill>
                <a:latin typeface="Aptos"/>
              </a:rPr>
              <a:t>Nhận cảnh báo thật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70847" y="4709160"/>
            <a:ext cx="246889" cy="0"/>
          </a:xfrm>
          <a:prstGeom prst="line">
            <a:avLst/>
          </a:prstGeom>
          <a:ln w="2032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336024" y="4215383"/>
            <a:ext cx="178308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1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53828" y="4087368"/>
            <a:ext cx="347472" cy="274320"/>
          </a:xfrm>
          <a:prstGeom prst="roundRect">
            <a:avLst/>
          </a:prstGeom>
          <a:solidFill>
            <a:srgbClr val="8165C6"/>
          </a:solidFill>
          <a:ln w="10160">
            <a:solidFill>
              <a:srgbClr val="816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08692" y="4101083"/>
            <a:ext cx="237744" cy="2468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19" y="4471416"/>
            <a:ext cx="1618488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243A"/>
                </a:solidFill>
                <a:latin typeface="Aptos"/>
              </a:rPr>
              <a:t>Ghi log nghiệm thu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6318504"/>
            <a:ext cx="106070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07086"/>
                </a:solidFill>
                <a:latin typeface="Aptos"/>
              </a:rPr>
              <a:t>NGUỒN  docs/TEST_PLAN.md · docs/VALIDATION.md · docs/ARCHITECTURE.md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35640" y="6510528"/>
            <a:ext cx="74980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07086"/>
                </a:solidFill>
                <a:latin typeface="Aptos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giám sát thiết bị và cảnh báo Telegram/Slack</dc:title>
  <dc:subject>Dàn ý thuyết trình Executive 22 slide · Windows/GNS3/Ubuntu</dc:subject>
  <dc:creator>QTMNC</dc:creator>
  <cp:keywords>GNS3, SSH, SNMP, Telegram, Slack, Ubuntu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